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59" r:id="rId4"/>
    <p:sldId id="271" r:id="rId5"/>
    <p:sldId id="260" r:id="rId6"/>
    <p:sldId id="261" r:id="rId7"/>
    <p:sldId id="275" r:id="rId8"/>
    <p:sldId id="262" r:id="rId9"/>
    <p:sldId id="264" r:id="rId10"/>
    <p:sldId id="265" r:id="rId11"/>
    <p:sldId id="266" r:id="rId12"/>
    <p:sldId id="267" r:id="rId13"/>
    <p:sldId id="268" r:id="rId14"/>
    <p:sldId id="269" r:id="rId15"/>
    <p:sldId id="270" r:id="rId16"/>
    <p:sldId id="273" r:id="rId17"/>
    <p:sldId id="274"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EE19B-DF0F-4E02-9AF8-9E513482CED2}" type="datetimeFigureOut">
              <a:rPr lang="en-US" smtClean="0"/>
              <a:t>5/9/2026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D25C7-C58A-4491-B7B6-D26975AECFDE}" type="slidenum">
              <a:rPr lang="en-US" smtClean="0"/>
              <a:t>‹#›</a:t>
            </a:fld>
            <a:endParaRPr lang="en-US"/>
          </a:p>
        </p:txBody>
      </p:sp>
    </p:spTree>
    <p:extLst>
      <p:ext uri="{BB962C8B-B14F-4D97-AF65-F5344CB8AC3E}">
        <p14:creationId xmlns:p14="http://schemas.microsoft.com/office/powerpoint/2010/main" val="202668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8D25C7-C58A-4491-B7B6-D26975AECFDE}" type="slidenum">
              <a:rPr lang="en-US" smtClean="0"/>
              <a:t>5</a:t>
            </a:fld>
            <a:endParaRPr lang="en-US"/>
          </a:p>
        </p:txBody>
      </p:sp>
    </p:spTree>
    <p:extLst>
      <p:ext uri="{BB962C8B-B14F-4D97-AF65-F5344CB8AC3E}">
        <p14:creationId xmlns:p14="http://schemas.microsoft.com/office/powerpoint/2010/main" val="2200667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4900-5D84-E885-98DD-35EB49E688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DEAEE7-5865-04A6-0EAA-E9CE88D75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66DF32-6B05-CEAB-8E35-E009829AA7DB}"/>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5" name="Footer Placeholder 4">
            <a:extLst>
              <a:ext uri="{FF2B5EF4-FFF2-40B4-BE49-F238E27FC236}">
                <a16:creationId xmlns:a16="http://schemas.microsoft.com/office/drawing/2014/main" id="{BBC9F46A-FCD8-E30E-6569-7E1476A4C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BF87B-04BB-18DF-6C70-8FD19051DBEF}"/>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3533986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DB69-3533-C0AB-4243-BA810DC3A0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8F57CC-D6B0-245D-F31B-C97B1F2095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5D519-D356-03E1-D038-B33BFC0175FE}"/>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5" name="Footer Placeholder 4">
            <a:extLst>
              <a:ext uri="{FF2B5EF4-FFF2-40B4-BE49-F238E27FC236}">
                <a16:creationId xmlns:a16="http://schemas.microsoft.com/office/drawing/2014/main" id="{09279104-FA2A-87E4-652F-1DDB440976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C2CA64-6492-3DB5-A46A-AD13241A434F}"/>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557568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F22-5457-4960-2445-B6A639FA8A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53CC64-1613-2AE5-0116-F9455E964A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7300B3-C5C2-3A18-A1CC-D3463237BACB}"/>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5" name="Footer Placeholder 4">
            <a:extLst>
              <a:ext uri="{FF2B5EF4-FFF2-40B4-BE49-F238E27FC236}">
                <a16:creationId xmlns:a16="http://schemas.microsoft.com/office/drawing/2014/main" id="{2D9B56AD-3151-920B-E134-76FCBC4FD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99762-E553-37BA-6BA7-C7015A52DB11}"/>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323561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578B5-E3DC-9878-8FEE-52BA3E0F03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643E2-4BED-859A-D269-2A7C973ABB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9AA44B-CAEE-5C0F-E5DB-91CCCAA66F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697F9F-DE88-0649-9529-B1C5A8DD5FA3}"/>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6" name="Footer Placeholder 5">
            <a:extLst>
              <a:ext uri="{FF2B5EF4-FFF2-40B4-BE49-F238E27FC236}">
                <a16:creationId xmlns:a16="http://schemas.microsoft.com/office/drawing/2014/main" id="{C4F07AF8-DA59-98E7-7079-8E1E8459C8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38323E-6969-9AFD-B403-4D8F811B4428}"/>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383124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B7EB-38E8-DFF4-0986-71C0E8E802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72AD51-A559-FABE-73CF-281E7F19B3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4373D2-C780-9FDA-556E-F2A5179B9B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312712-3148-D395-AFCA-F437BD59A7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F9B45E-BF86-18B3-E177-B866C71B69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90F915-E209-EFA1-3122-47FCF74D6ED3}"/>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8" name="Footer Placeholder 7">
            <a:extLst>
              <a:ext uri="{FF2B5EF4-FFF2-40B4-BE49-F238E27FC236}">
                <a16:creationId xmlns:a16="http://schemas.microsoft.com/office/drawing/2014/main" id="{5733B108-2DF1-6F85-300E-FAF234F2F7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C9295C-CEDD-AF4D-C587-F40D9E9833FC}"/>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2818244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7DF42-B513-7D28-0E0B-F7EFA3FA4D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FC8F4B-DB67-96A9-F53F-B18899AC1533}"/>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4" name="Footer Placeholder 3">
            <a:extLst>
              <a:ext uri="{FF2B5EF4-FFF2-40B4-BE49-F238E27FC236}">
                <a16:creationId xmlns:a16="http://schemas.microsoft.com/office/drawing/2014/main" id="{6E56B096-B04E-01F3-334E-CBAE5FB8F8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71CD76-E7D4-6A95-01A0-F96B9323730C}"/>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1649025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711329-CA11-ADEB-4194-45A55AE8A892}"/>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3" name="Footer Placeholder 2">
            <a:extLst>
              <a:ext uri="{FF2B5EF4-FFF2-40B4-BE49-F238E27FC236}">
                <a16:creationId xmlns:a16="http://schemas.microsoft.com/office/drawing/2014/main" id="{AB3E386E-0687-E89E-4AB6-EF5C78CD00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FD0C91-8CB8-6184-5793-336E50470465}"/>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4120979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C9AD-33E3-9C2A-5972-1CE0936E3A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7B3AC4-4D1F-7B6E-5712-6B71522599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23E3A1-7283-176E-5901-7A03811B9D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16C6A4-BE7A-2803-CF31-A0F4EE4B289E}"/>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6" name="Footer Placeholder 5">
            <a:extLst>
              <a:ext uri="{FF2B5EF4-FFF2-40B4-BE49-F238E27FC236}">
                <a16:creationId xmlns:a16="http://schemas.microsoft.com/office/drawing/2014/main" id="{87D91B12-A1AF-CF0D-66D2-CF8070998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B973CF-A28E-1316-DBAC-949B489915D1}"/>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1740141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518B-D069-8A42-52C7-F756F681AA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4D9022-BC1B-ACA6-4BC6-97D97104F0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31713A-AF1F-593F-106F-28CD2B4FA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2143EB-856E-5241-FBFA-392B49A76D4A}"/>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6" name="Footer Placeholder 5">
            <a:extLst>
              <a:ext uri="{FF2B5EF4-FFF2-40B4-BE49-F238E27FC236}">
                <a16:creationId xmlns:a16="http://schemas.microsoft.com/office/drawing/2014/main" id="{42542778-6E78-9497-ADD2-939628B335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979C04-8FFF-D922-ED5E-38F6F419DE1F}"/>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4228904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4B28-2251-85B2-B0F4-B366CB9AF9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FF395D-C579-A668-B041-4580DFB01C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4CD2C9-5FAF-00CF-23A1-B0FCBF5254F7}"/>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5" name="Footer Placeholder 4">
            <a:extLst>
              <a:ext uri="{FF2B5EF4-FFF2-40B4-BE49-F238E27FC236}">
                <a16:creationId xmlns:a16="http://schemas.microsoft.com/office/drawing/2014/main" id="{A31B6632-C43D-64B9-620C-A1236D30D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C3EDCD-762F-9BF2-3E9A-D3DA189F6933}"/>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2766122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350ABA-C49E-C759-859F-97921448EE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07BA6B-64C3-C109-C4CF-BC241D8799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AA6549-F457-5D3E-26FF-37D34524E703}"/>
              </a:ext>
            </a:extLst>
          </p:cNvPr>
          <p:cNvSpPr>
            <a:spLocks noGrp="1"/>
          </p:cNvSpPr>
          <p:nvPr>
            <p:ph type="dt" sz="half" idx="10"/>
          </p:nvPr>
        </p:nvSpPr>
        <p:spPr/>
        <p:txBody>
          <a:bodyPr/>
          <a:lstStyle/>
          <a:p>
            <a:fld id="{D6DF258D-B6C5-447E-A100-D9EA02F1ADAF}" type="datetimeFigureOut">
              <a:rPr lang="en-US" smtClean="0"/>
              <a:t>5/9/2026</a:t>
            </a:fld>
            <a:endParaRPr lang="en-US"/>
          </a:p>
        </p:txBody>
      </p:sp>
      <p:sp>
        <p:nvSpPr>
          <p:cNvPr id="5" name="Footer Placeholder 4">
            <a:extLst>
              <a:ext uri="{FF2B5EF4-FFF2-40B4-BE49-F238E27FC236}">
                <a16:creationId xmlns:a16="http://schemas.microsoft.com/office/drawing/2014/main" id="{9F73B7C4-7042-77C9-6E74-121A0E4AD4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02F49-CF66-4596-A090-54C8198D52D8}"/>
              </a:ext>
            </a:extLst>
          </p:cNvPr>
          <p:cNvSpPr>
            <a:spLocks noGrp="1"/>
          </p:cNvSpPr>
          <p:nvPr>
            <p:ph type="sldNum" sz="quarter" idx="12"/>
          </p:nvPr>
        </p:nvSpPr>
        <p:spPr/>
        <p:txBody>
          <a:bodyPr/>
          <a:lstStyle/>
          <a:p>
            <a:fld id="{AC2C851D-9703-4F41-BB49-CB47B441BE74}" type="slidenum">
              <a:rPr lang="en-US" smtClean="0"/>
              <a:t>‹#›</a:t>
            </a:fld>
            <a:endParaRPr lang="en-US"/>
          </a:p>
        </p:txBody>
      </p:sp>
    </p:spTree>
    <p:extLst>
      <p:ext uri="{BB962C8B-B14F-4D97-AF65-F5344CB8AC3E}">
        <p14:creationId xmlns:p14="http://schemas.microsoft.com/office/powerpoint/2010/main" val="4082262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A0F382-FAAB-3190-673D-8DF6CA0DF5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8B91F4-31F3-283C-7DCE-3C8B6E5FC6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D17D2-84A3-3EAC-CC7F-7EFF2FBF7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F258D-B6C5-447E-A100-D9EA02F1ADAF}" type="datetimeFigureOut">
              <a:rPr lang="en-US" smtClean="0"/>
              <a:t>5/9/2026</a:t>
            </a:fld>
            <a:endParaRPr lang="en-US"/>
          </a:p>
        </p:txBody>
      </p:sp>
      <p:sp>
        <p:nvSpPr>
          <p:cNvPr id="5" name="Footer Placeholder 4">
            <a:extLst>
              <a:ext uri="{FF2B5EF4-FFF2-40B4-BE49-F238E27FC236}">
                <a16:creationId xmlns:a16="http://schemas.microsoft.com/office/drawing/2014/main" id="{2AA17764-5D89-39BD-0581-30E131752F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A7AFC8-CF9F-D92C-2785-B80E3277E6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2C851D-9703-4F41-BB49-CB47B441BE74}" type="slidenum">
              <a:rPr lang="en-US" smtClean="0"/>
              <a:t>‹#›</a:t>
            </a:fld>
            <a:endParaRPr lang="en-US"/>
          </a:p>
        </p:txBody>
      </p:sp>
    </p:spTree>
    <p:extLst>
      <p:ext uri="{BB962C8B-B14F-4D97-AF65-F5344CB8AC3E}">
        <p14:creationId xmlns:p14="http://schemas.microsoft.com/office/powerpoint/2010/main" val="3977064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21F59D-C26D-F4EF-B18F-DF9DB33F341A}"/>
              </a:ext>
            </a:extLst>
          </p:cNvPr>
          <p:cNvSpPr txBox="1"/>
          <p:nvPr/>
        </p:nvSpPr>
        <p:spPr>
          <a:xfrm>
            <a:off x="1398" y="0"/>
            <a:ext cx="12190602" cy="3139321"/>
          </a:xfrm>
          <a:prstGeom prst="rect">
            <a:avLst/>
          </a:prstGeom>
          <a:noFill/>
        </p:spPr>
        <p:txBody>
          <a:bodyPr wrap="square">
            <a:spAutoFit/>
          </a:bodyPr>
          <a:lstStyle/>
          <a:p>
            <a:pPr>
              <a:buNone/>
            </a:pPr>
            <a:r>
              <a:rPr lang="en-US" b="1" dirty="0"/>
              <a:t>Project Title:</a:t>
            </a:r>
            <a:r>
              <a:rPr lang="en-US" dirty="0"/>
              <a:t> NYC Real Estate Market Optimization: An AI-Driven Analytical Approach</a:t>
            </a:r>
          </a:p>
          <a:p>
            <a:pPr>
              <a:buNone/>
            </a:pPr>
            <a:r>
              <a:rPr lang="en-US" b="1" dirty="0"/>
              <a:t>Course:</a:t>
            </a:r>
            <a:r>
              <a:rPr lang="en-US" dirty="0"/>
              <a:t> Data Analysis Final Project</a:t>
            </a:r>
          </a:p>
          <a:p>
            <a:pPr>
              <a:buNone/>
            </a:pPr>
            <a:r>
              <a:rPr lang="en-US" b="1" dirty="0"/>
              <a:t>Institution:</a:t>
            </a:r>
            <a:r>
              <a:rPr lang="en-US" dirty="0"/>
              <a:t> El Sewedy University of Technology (EUT)</a:t>
            </a:r>
          </a:p>
          <a:p>
            <a:pPr>
              <a:buNone/>
            </a:pPr>
            <a:r>
              <a:rPr lang="en-US" b="1" dirty="0"/>
              <a:t>Team Members:</a:t>
            </a:r>
            <a:r>
              <a:rPr lang="en-US" dirty="0"/>
              <a:t> Omar Ahmed</a:t>
            </a:r>
            <a:r>
              <a:rPr lang="ar-EG" dirty="0"/>
              <a:t> </a:t>
            </a:r>
            <a:r>
              <a:rPr lang="en-US" dirty="0"/>
              <a:t>Ramadan &amp; Ahmed Mohamed</a:t>
            </a:r>
            <a:endParaRPr lang="ar-EG" dirty="0"/>
          </a:p>
          <a:p>
            <a:pPr>
              <a:buNone/>
            </a:pPr>
            <a:endParaRPr lang="en-US" dirty="0"/>
          </a:p>
          <a:p>
            <a:pPr>
              <a:buNone/>
            </a:pPr>
            <a:r>
              <a:rPr lang="en-US" b="1" dirty="0"/>
              <a:t>Project Abstract : </a:t>
            </a:r>
          </a:p>
          <a:p>
            <a:pPr>
              <a:buNone/>
            </a:pPr>
            <a:r>
              <a:rPr lang="en-US" dirty="0"/>
              <a:t>This project aims to optimize short-term rental revenues in the highly competitive New York City market. By analyzing a comprehensive dataset of over 45,000 listings, we developed a data-driven pipeline utilizing Python for data processing and algorithmic recommendations, coupled with Power BI for advanced visual analytics. The objective is to transition real estate hosts from traditional "guesswork" pricing to prescriptive, data-backed strategies that maximize occupancy and profitability.</a:t>
            </a:r>
          </a:p>
        </p:txBody>
      </p:sp>
    </p:spTree>
    <p:extLst>
      <p:ext uri="{BB962C8B-B14F-4D97-AF65-F5344CB8AC3E}">
        <p14:creationId xmlns:p14="http://schemas.microsoft.com/office/powerpoint/2010/main" val="1785822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2C56-3590-D957-96E0-395240FE0F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972F5A-E79D-980A-95E0-1281E0D698E1}"/>
              </a:ext>
            </a:extLst>
          </p:cNvPr>
          <p:cNvSpPr txBox="1"/>
          <p:nvPr/>
        </p:nvSpPr>
        <p:spPr>
          <a:xfrm>
            <a:off x="0" y="0"/>
            <a:ext cx="12192000" cy="3970318"/>
          </a:xfrm>
          <a:prstGeom prst="rect">
            <a:avLst/>
          </a:prstGeom>
          <a:noFill/>
        </p:spPr>
        <p:txBody>
          <a:bodyPr wrap="square">
            <a:spAutoFit/>
          </a:bodyPr>
          <a:lstStyle/>
          <a:p>
            <a:pPr>
              <a:buNone/>
            </a:pPr>
            <a:r>
              <a:rPr lang="en-US" b="1" dirty="0"/>
              <a:t>The Project Problem &amp; Motivation :</a:t>
            </a:r>
          </a:p>
          <a:p>
            <a:pPr>
              <a:buNone/>
            </a:pPr>
            <a:endParaRPr lang="en-US" b="1" dirty="0"/>
          </a:p>
          <a:p>
            <a:r>
              <a:rPr lang="en-US" b="1" dirty="0"/>
              <a:t>1. The Core Problem:</a:t>
            </a:r>
            <a:r>
              <a:rPr lang="en-US" dirty="0"/>
              <a:t> Despite the massive demand for short-term rentals in NYC, many property hosts suffer from revenue leakage and low occupancy rates. Our preliminary analysis revealed that this is primarily caused by two critical factors: </a:t>
            </a:r>
          </a:p>
          <a:p>
            <a:pPr lvl="1"/>
            <a:endParaRPr lang="en-US" dirty="0"/>
          </a:p>
          <a:p>
            <a:pPr lvl="1">
              <a:buFont typeface="Arial" panose="020B0604020202020204" pitchFamily="34" charset="0"/>
              <a:buChar char="•"/>
            </a:pPr>
            <a:r>
              <a:rPr lang="en-US" b="1" dirty="0"/>
              <a:t>Misaligned Pricing:</a:t>
            </a:r>
            <a:r>
              <a:rPr lang="en-US" dirty="0"/>
              <a:t> Hosts often set static prices that do not reflect the dynamic averages of their specific hyperlocal neighborhoods (Boroughs).</a:t>
            </a:r>
          </a:p>
          <a:p>
            <a:pPr lvl="1">
              <a:buFont typeface="Arial" panose="020B0604020202020204" pitchFamily="34" charset="0"/>
              <a:buChar char="•"/>
            </a:pPr>
            <a:endParaRPr lang="en-US" dirty="0"/>
          </a:p>
          <a:p>
            <a:pPr lvl="1">
              <a:buFont typeface="Arial" panose="020B0604020202020204" pitchFamily="34" charset="0"/>
              <a:buChar char="•"/>
            </a:pPr>
            <a:r>
              <a:rPr lang="en-US" b="1" dirty="0"/>
              <a:t>Rigid Booking Policies:</a:t>
            </a:r>
            <a:r>
              <a:rPr lang="en-US" dirty="0"/>
              <a:t> Excessive "minimum nights" requirements alienate a massive segment of short-stay tourists, leading to </a:t>
            </a:r>
            <a:r>
              <a:rPr lang="en-US" dirty="0" err="1"/>
              <a:t>unbooked</a:t>
            </a:r>
            <a:r>
              <a:rPr lang="en-US" dirty="0"/>
              <a:t> calendars.</a:t>
            </a:r>
          </a:p>
          <a:p>
            <a:pPr>
              <a:buFont typeface="Arial" panose="020B0604020202020204" pitchFamily="34" charset="0"/>
              <a:buChar char="•"/>
            </a:pPr>
            <a:endParaRPr lang="en-US" dirty="0"/>
          </a:p>
          <a:p>
            <a:pPr>
              <a:buNone/>
            </a:pPr>
            <a:r>
              <a:rPr lang="en-US" b="1" dirty="0"/>
              <a:t>2. Why It Matters (The Importance):</a:t>
            </a:r>
            <a:r>
              <a:rPr lang="en-US" dirty="0"/>
              <a:t> In a market saturated with over 44,000 options, visibility and competitive positioning are critical. Solving this problem empowers investors to maximize their Return on Investment (ROI) and provides a scalable framework that can be applied to any global real estate market.</a:t>
            </a:r>
          </a:p>
        </p:txBody>
      </p:sp>
    </p:spTree>
    <p:extLst>
      <p:ext uri="{BB962C8B-B14F-4D97-AF65-F5344CB8AC3E}">
        <p14:creationId xmlns:p14="http://schemas.microsoft.com/office/powerpoint/2010/main" val="3939845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19B08-F7CC-6767-5EFD-1E30BDAE15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750213-89A6-832B-66B7-CC4F5E1954F4}"/>
              </a:ext>
            </a:extLst>
          </p:cNvPr>
          <p:cNvSpPr txBox="1"/>
          <p:nvPr/>
        </p:nvSpPr>
        <p:spPr>
          <a:xfrm>
            <a:off x="0" y="0"/>
            <a:ext cx="12192000" cy="5355312"/>
          </a:xfrm>
          <a:prstGeom prst="rect">
            <a:avLst/>
          </a:prstGeom>
          <a:noFill/>
        </p:spPr>
        <p:txBody>
          <a:bodyPr wrap="square">
            <a:spAutoFit/>
          </a:bodyPr>
          <a:lstStyle/>
          <a:p>
            <a:pPr>
              <a:buNone/>
            </a:pPr>
            <a:r>
              <a:rPr lang="en-US" b="1" dirty="0"/>
              <a:t>Python Data Engineering &amp; Exploratory Analysis</a:t>
            </a:r>
            <a:r>
              <a:rPr lang="ar-EG" b="1" dirty="0"/>
              <a:t> </a:t>
            </a:r>
            <a:r>
              <a:rPr lang="en-US" b="1" dirty="0"/>
              <a:t>:</a:t>
            </a:r>
          </a:p>
          <a:p>
            <a:pPr>
              <a:buNone/>
            </a:pPr>
            <a:endParaRPr lang="en-US" b="1" dirty="0"/>
          </a:p>
          <a:p>
            <a:pPr marL="342900" indent="-342900">
              <a:buAutoNum type="arabicPeriod"/>
            </a:pPr>
            <a:r>
              <a:rPr lang="en-US" b="1" dirty="0"/>
              <a:t>Data Extraction &amp; Cleaning Pipeline</a:t>
            </a:r>
            <a:r>
              <a:rPr lang="en-US" dirty="0"/>
              <a:t> :</a:t>
            </a:r>
          </a:p>
          <a:p>
            <a:pPr marL="342900" indent="-342900">
              <a:buAutoNum type="arabicPeriod"/>
            </a:pPr>
            <a:endParaRPr lang="en-US" dirty="0"/>
          </a:p>
          <a:p>
            <a:r>
              <a:rPr lang="en-US" dirty="0"/>
              <a:t>To ensure high data integrity for our analysis, we utilized </a:t>
            </a:r>
            <a:r>
              <a:rPr lang="en-US" dirty="0">
                <a:latin typeface="Courier New" panose="02070309020205020404" pitchFamily="49" charset="0"/>
              </a:rPr>
              <a:t>Pandas</a:t>
            </a:r>
            <a:r>
              <a:rPr lang="en-US" dirty="0"/>
              <a:t> and </a:t>
            </a:r>
            <a:r>
              <a:rPr lang="en-US" dirty="0">
                <a:latin typeface="Courier New" panose="02070309020205020404" pitchFamily="49" charset="0"/>
              </a:rPr>
              <a:t>NumPy</a:t>
            </a:r>
            <a:r>
              <a:rPr lang="en-US" dirty="0"/>
              <a:t> to process the raw dataset of 45,840 records. The following preprocessing steps were applied:</a:t>
            </a:r>
          </a:p>
          <a:p>
            <a:pPr lvl="1"/>
            <a:endParaRPr lang="en-US" dirty="0"/>
          </a:p>
          <a:p>
            <a:pPr lvl="1">
              <a:buFont typeface="Arial" panose="020B0604020202020204" pitchFamily="34" charset="0"/>
              <a:buChar char="•"/>
            </a:pPr>
            <a:r>
              <a:rPr lang="en-US" b="1" dirty="0"/>
              <a:t>Text Normalization:</a:t>
            </a:r>
            <a:r>
              <a:rPr lang="en-US" dirty="0"/>
              <a:t> Standardized string columns (</a:t>
            </a:r>
            <a:r>
              <a:rPr lang="en-US" dirty="0">
                <a:latin typeface="Courier New" panose="02070309020205020404" pitchFamily="49" charset="0"/>
              </a:rPr>
              <a:t>name</a:t>
            </a:r>
            <a:r>
              <a:rPr lang="en-US" dirty="0"/>
              <a:t>, </a:t>
            </a:r>
            <a:r>
              <a:rPr lang="en-US" dirty="0" err="1">
                <a:latin typeface="Courier New" panose="02070309020205020404" pitchFamily="49" charset="0"/>
              </a:rPr>
              <a:t>host_name</a:t>
            </a:r>
            <a:r>
              <a:rPr lang="en-US" dirty="0"/>
              <a:t>, </a:t>
            </a:r>
            <a:r>
              <a:rPr lang="en-US" dirty="0" err="1">
                <a:latin typeface="Courier New" panose="02070309020205020404" pitchFamily="49" charset="0"/>
              </a:rPr>
              <a:t>neighbourhood</a:t>
            </a:r>
            <a:r>
              <a:rPr lang="en-US" dirty="0"/>
              <a:t>) to lowercase to ensure consistency during grouping and filtering.</a:t>
            </a:r>
          </a:p>
          <a:p>
            <a:pPr lvl="1">
              <a:buFont typeface="Arial" panose="020B0604020202020204" pitchFamily="34" charset="0"/>
              <a:buChar char="•"/>
            </a:pPr>
            <a:endParaRPr lang="en-US" dirty="0"/>
          </a:p>
          <a:p>
            <a:pPr lvl="1">
              <a:buFont typeface="Arial" panose="020B0604020202020204" pitchFamily="34" charset="0"/>
              <a:buChar char="•"/>
            </a:pPr>
            <a:r>
              <a:rPr lang="en-US" b="1" dirty="0"/>
              <a:t>Handling Missing Values:</a:t>
            </a:r>
            <a:r>
              <a:rPr lang="en-US" dirty="0"/>
              <a:t> Handled null values strategically. We filled missing </a:t>
            </a:r>
            <a:r>
              <a:rPr lang="en-US" dirty="0" err="1">
                <a:latin typeface="Courier New" panose="02070309020205020404" pitchFamily="49" charset="0"/>
              </a:rPr>
              <a:t>reviews_per_month</a:t>
            </a:r>
            <a:r>
              <a:rPr lang="en-US" dirty="0"/>
              <a:t> with </a:t>
            </a:r>
            <a:r>
              <a:rPr lang="en-US" dirty="0">
                <a:latin typeface="Courier New" panose="02070309020205020404" pitchFamily="49" charset="0"/>
              </a:rPr>
              <a:t>0</a:t>
            </a:r>
            <a:r>
              <a:rPr lang="en-US" dirty="0"/>
              <a:t> (assuming no reviews yet) and dropped records with missing essential identifiers (like host names).</a:t>
            </a:r>
          </a:p>
          <a:p>
            <a:pPr lvl="1">
              <a:buFont typeface="Arial" panose="020B0604020202020204" pitchFamily="34" charset="0"/>
              <a:buChar char="•"/>
            </a:pPr>
            <a:endParaRPr lang="en-US" dirty="0"/>
          </a:p>
          <a:p>
            <a:pPr lvl="1">
              <a:buFont typeface="Arial" panose="020B0604020202020204" pitchFamily="34" charset="0"/>
              <a:buChar char="•"/>
            </a:pPr>
            <a:r>
              <a:rPr lang="en-US" b="1" dirty="0"/>
              <a:t>Logical Constraints:</a:t>
            </a:r>
            <a:r>
              <a:rPr lang="en-US" dirty="0"/>
              <a:t> Filtered out unrealistic data points, such as prices equal to </a:t>
            </a:r>
            <a:r>
              <a:rPr lang="en-US" dirty="0">
                <a:latin typeface="Courier New" panose="02070309020205020404" pitchFamily="49" charset="0"/>
              </a:rPr>
              <a:t>$0</a:t>
            </a:r>
            <a:r>
              <a:rPr lang="en-US" dirty="0"/>
              <a:t> or properties requiring a minimum stay of </a:t>
            </a:r>
            <a:r>
              <a:rPr lang="en-US" dirty="0">
                <a:latin typeface="Courier New" panose="02070309020205020404" pitchFamily="49" charset="0"/>
              </a:rPr>
              <a:t>&gt; 365</a:t>
            </a:r>
            <a:r>
              <a:rPr lang="en-US" dirty="0"/>
              <a:t> days.</a:t>
            </a:r>
          </a:p>
          <a:p>
            <a:pPr lvl="1">
              <a:buFont typeface="Arial" panose="020B0604020202020204" pitchFamily="34" charset="0"/>
              <a:buChar char="•"/>
            </a:pPr>
            <a:endParaRPr lang="en-US" dirty="0"/>
          </a:p>
          <a:p>
            <a:pPr lvl="1">
              <a:buFont typeface="Arial" panose="020B0604020202020204" pitchFamily="34" charset="0"/>
              <a:buChar char="•"/>
            </a:pPr>
            <a:r>
              <a:rPr lang="en-US" b="1" dirty="0"/>
              <a:t>Outlier Removal (IQR Method):</a:t>
            </a:r>
            <a:r>
              <a:rPr lang="en-US" dirty="0"/>
              <a:t> To prevent extreme, ultra-luxury prices from skewing the market averages, we applied the Interquartile Range (IQR) statistical method on the </a:t>
            </a:r>
            <a:r>
              <a:rPr lang="en-US" dirty="0">
                <a:latin typeface="Courier New" panose="02070309020205020404" pitchFamily="49" charset="0"/>
              </a:rPr>
              <a:t>price</a:t>
            </a:r>
            <a:r>
              <a:rPr lang="en-US" dirty="0"/>
              <a:t> column to establish lower and upper bounds, successfully filtering out extreme outliers.</a:t>
            </a:r>
          </a:p>
        </p:txBody>
      </p:sp>
      <p:pic>
        <p:nvPicPr>
          <p:cNvPr id="5" name="Picture 4">
            <a:extLst>
              <a:ext uri="{FF2B5EF4-FFF2-40B4-BE49-F238E27FC236}">
                <a16:creationId xmlns:a16="http://schemas.microsoft.com/office/drawing/2014/main" id="{D76DB1A1-27C7-47C1-AC5D-C88A716C9C25}"/>
              </a:ext>
            </a:extLst>
          </p:cNvPr>
          <p:cNvPicPr>
            <a:picLocks noChangeAspect="1"/>
          </p:cNvPicPr>
          <p:nvPr/>
        </p:nvPicPr>
        <p:blipFill>
          <a:blip r:embed="rId2"/>
          <a:stretch>
            <a:fillRect/>
          </a:stretch>
        </p:blipFill>
        <p:spPr>
          <a:xfrm>
            <a:off x="6199465" y="5355312"/>
            <a:ext cx="5992536" cy="1502688"/>
          </a:xfrm>
          <a:prstGeom prst="rect">
            <a:avLst/>
          </a:prstGeom>
        </p:spPr>
      </p:pic>
    </p:spTree>
    <p:extLst>
      <p:ext uri="{BB962C8B-B14F-4D97-AF65-F5344CB8AC3E}">
        <p14:creationId xmlns:p14="http://schemas.microsoft.com/office/powerpoint/2010/main" val="281176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F89E2-2D6D-6760-128A-809DAC69C3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4E7A6-A87F-A96E-41D1-79085EAE5D6D}"/>
              </a:ext>
            </a:extLst>
          </p:cNvPr>
          <p:cNvSpPr txBox="1"/>
          <p:nvPr/>
        </p:nvSpPr>
        <p:spPr>
          <a:xfrm>
            <a:off x="0" y="0"/>
            <a:ext cx="12192000" cy="2585323"/>
          </a:xfrm>
          <a:prstGeom prst="rect">
            <a:avLst/>
          </a:prstGeom>
          <a:noFill/>
        </p:spPr>
        <p:txBody>
          <a:bodyPr wrap="square">
            <a:spAutoFit/>
          </a:bodyPr>
          <a:lstStyle/>
          <a:p>
            <a:pPr>
              <a:buNone/>
            </a:pPr>
            <a:r>
              <a:rPr lang="en-US" b="1" dirty="0"/>
              <a:t>2. Exploratory Data Analysis (EDA) &amp; Visualizations</a:t>
            </a:r>
            <a:r>
              <a:rPr lang="en-US" dirty="0"/>
              <a:t> :</a:t>
            </a:r>
          </a:p>
          <a:p>
            <a:pPr>
              <a:buNone/>
            </a:pPr>
            <a:endParaRPr lang="en-US" dirty="0"/>
          </a:p>
          <a:p>
            <a:pPr>
              <a:buNone/>
            </a:pPr>
            <a:r>
              <a:rPr lang="en-US" dirty="0"/>
              <a:t>Using </a:t>
            </a:r>
            <a:r>
              <a:rPr lang="en-US" dirty="0">
                <a:latin typeface="Courier New" panose="02070309020205020404" pitchFamily="49" charset="0"/>
              </a:rPr>
              <a:t>Seaborn</a:t>
            </a:r>
            <a:r>
              <a:rPr lang="en-US" dirty="0"/>
              <a:t> and </a:t>
            </a:r>
            <a:r>
              <a:rPr lang="en-US" dirty="0">
                <a:latin typeface="Courier New" panose="02070309020205020404" pitchFamily="49" charset="0"/>
              </a:rPr>
              <a:t>Matplotlib</a:t>
            </a:r>
            <a:r>
              <a:rPr lang="en-US" dirty="0"/>
              <a:t>, we conducted a visual analysis to understand the relationships between different market drivers.</a:t>
            </a:r>
          </a:p>
          <a:p>
            <a:pPr lvl="1">
              <a:buFont typeface="Arial" panose="020B0604020202020204" pitchFamily="34" charset="0"/>
              <a:buChar char="•"/>
            </a:pPr>
            <a:r>
              <a:rPr lang="en-US" b="1" dirty="0"/>
              <a:t>Correlation Matrix (Heatmap):</a:t>
            </a:r>
            <a:r>
              <a:rPr lang="en-US" dirty="0"/>
              <a:t> We generated a heatmap to identify correlations between numerical variables such as price, minimum nights, and availability.</a:t>
            </a:r>
          </a:p>
          <a:p>
            <a:pPr lvl="1">
              <a:buFont typeface="Arial" panose="020B0604020202020204" pitchFamily="34" charset="0"/>
              <a:buChar char="•"/>
            </a:pPr>
            <a:r>
              <a:rPr lang="en-US" b="1" dirty="0"/>
              <a:t>Borough-Level Valuation:</a:t>
            </a:r>
            <a:r>
              <a:rPr lang="en-US" dirty="0"/>
              <a:t> We created comparative bar charts to analyze the "Average Property Value" versus "Average Engagement" across the 5 NYC boroughs. This revealed crucial insights, such as Manhattan having the highest prices, while other boroughs had different engagement levels.</a:t>
            </a:r>
          </a:p>
        </p:txBody>
      </p:sp>
    </p:spTree>
    <p:extLst>
      <p:ext uri="{BB962C8B-B14F-4D97-AF65-F5344CB8AC3E}">
        <p14:creationId xmlns:p14="http://schemas.microsoft.com/office/powerpoint/2010/main" val="67118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17D3-D21C-1BF9-0A4B-540BBF7106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905A8B-4A0B-8677-4F48-DF682F2B454F}"/>
              </a:ext>
            </a:extLst>
          </p:cNvPr>
          <p:cNvPicPr>
            <a:picLocks noChangeAspect="1"/>
          </p:cNvPicPr>
          <p:nvPr/>
        </p:nvPicPr>
        <p:blipFill>
          <a:blip r:embed="rId3"/>
          <a:stretch>
            <a:fillRect/>
          </a:stretch>
        </p:blipFill>
        <p:spPr>
          <a:xfrm>
            <a:off x="6602135" y="2585323"/>
            <a:ext cx="5589865" cy="4272677"/>
          </a:xfrm>
          <a:prstGeom prst="rect">
            <a:avLst/>
          </a:prstGeom>
        </p:spPr>
      </p:pic>
      <p:pic>
        <p:nvPicPr>
          <p:cNvPr id="7" name="Picture 6">
            <a:extLst>
              <a:ext uri="{FF2B5EF4-FFF2-40B4-BE49-F238E27FC236}">
                <a16:creationId xmlns:a16="http://schemas.microsoft.com/office/drawing/2014/main" id="{2B4DD43C-542C-8C61-F335-9BD86B6AFBCF}"/>
              </a:ext>
            </a:extLst>
          </p:cNvPr>
          <p:cNvPicPr>
            <a:picLocks noChangeAspect="1"/>
          </p:cNvPicPr>
          <p:nvPr/>
        </p:nvPicPr>
        <p:blipFill>
          <a:blip r:embed="rId4"/>
          <a:stretch>
            <a:fillRect/>
          </a:stretch>
        </p:blipFill>
        <p:spPr>
          <a:xfrm>
            <a:off x="0" y="2585323"/>
            <a:ext cx="6602135" cy="4272677"/>
          </a:xfrm>
          <a:prstGeom prst="rect">
            <a:avLst/>
          </a:prstGeom>
        </p:spPr>
      </p:pic>
      <p:sp>
        <p:nvSpPr>
          <p:cNvPr id="4" name="TextBox 3">
            <a:extLst>
              <a:ext uri="{FF2B5EF4-FFF2-40B4-BE49-F238E27FC236}">
                <a16:creationId xmlns:a16="http://schemas.microsoft.com/office/drawing/2014/main" id="{933A3540-5BB2-222B-BADD-82DD7EAE2F5B}"/>
              </a:ext>
            </a:extLst>
          </p:cNvPr>
          <p:cNvSpPr txBox="1"/>
          <p:nvPr/>
        </p:nvSpPr>
        <p:spPr>
          <a:xfrm>
            <a:off x="0" y="0"/>
            <a:ext cx="4624754"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cs typeface="Arial" panose="020B0604020202020204" pitchFamily="34" charset="0"/>
              </a:rPr>
              <a:t>Bar Charts:</a:t>
            </a:r>
            <a:r>
              <a:rPr kumimoji="0" lang="en-US" altLang="en-US" sz="18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Manhattan is the most expensive, but Brooklyn and Queens lead in popularity (Review Density).</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6EF9462-C309-D659-DFA5-02E3E4D3F17B}"/>
              </a:ext>
            </a:extLst>
          </p:cNvPr>
          <p:cNvSpPr txBox="1"/>
          <p:nvPr/>
        </p:nvSpPr>
        <p:spPr>
          <a:xfrm>
            <a:off x="6602134" y="0"/>
            <a:ext cx="5589865" cy="923330"/>
          </a:xfrm>
          <a:prstGeom prst="rect">
            <a:avLst/>
          </a:prstGeom>
          <a:noFill/>
        </p:spPr>
        <p:txBody>
          <a:bodyPr wrap="square">
            <a:spAutoFit/>
          </a:bodyPr>
          <a:lstStyle/>
          <a:p>
            <a:r>
              <a:rPr lang="en-US" sz="1800" b="1" dirty="0"/>
              <a:t>Heatmap:</a:t>
            </a:r>
            <a:r>
              <a:rPr lang="en-US" sz="1800" dirty="0"/>
              <a:t> </a:t>
            </a:r>
          </a:p>
          <a:p>
            <a:r>
              <a:rPr lang="en-US" sz="1800" dirty="0"/>
              <a:t>Negative correlation (-0.17) proves that strict booking rules reduce listing engagement.</a:t>
            </a:r>
          </a:p>
        </p:txBody>
      </p:sp>
    </p:spTree>
    <p:extLst>
      <p:ext uri="{BB962C8B-B14F-4D97-AF65-F5344CB8AC3E}">
        <p14:creationId xmlns:p14="http://schemas.microsoft.com/office/powerpoint/2010/main" val="8518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7C43-E033-8C86-B8F1-B3AA30783D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901CBE-1FFE-40AB-B1E4-265466054933}"/>
              </a:ext>
            </a:extLst>
          </p:cNvPr>
          <p:cNvSpPr txBox="1"/>
          <p:nvPr/>
        </p:nvSpPr>
        <p:spPr>
          <a:xfrm>
            <a:off x="0" y="0"/>
            <a:ext cx="12192000" cy="4524315"/>
          </a:xfrm>
          <a:prstGeom prst="rect">
            <a:avLst/>
          </a:prstGeom>
          <a:noFill/>
        </p:spPr>
        <p:txBody>
          <a:bodyPr wrap="square">
            <a:spAutoFit/>
          </a:bodyPr>
          <a:lstStyle/>
          <a:p>
            <a:pPr>
              <a:buNone/>
            </a:pPr>
            <a:r>
              <a:rPr lang="en-US" b="1" dirty="0"/>
              <a:t>3. Feature Engineering &amp; Prescriptive Logic</a:t>
            </a:r>
            <a:r>
              <a:rPr lang="en-US" dirty="0"/>
              <a:t> : </a:t>
            </a:r>
          </a:p>
          <a:p>
            <a:pPr>
              <a:buNone/>
            </a:pPr>
            <a:r>
              <a:rPr lang="en-US" dirty="0"/>
              <a:t>Instead of just descriptive analytics, we transformed the data to provide actionable advice for real estate hosts.</a:t>
            </a:r>
          </a:p>
          <a:p>
            <a:pPr>
              <a:buNone/>
            </a:pPr>
            <a:endParaRPr lang="en-US" dirty="0"/>
          </a:p>
          <a:p>
            <a:pPr>
              <a:buFont typeface="Arial" panose="020B0604020202020204" pitchFamily="34" charset="0"/>
              <a:buChar char="•"/>
            </a:pPr>
            <a:r>
              <a:rPr lang="en-US" b="1" dirty="0"/>
              <a:t>KPI Creation:</a:t>
            </a:r>
            <a:r>
              <a:rPr lang="en-US" dirty="0"/>
              <a:t> Calculated a new metric, </a:t>
            </a:r>
            <a:r>
              <a:rPr lang="en-US" b="1" dirty="0" err="1">
                <a:latin typeface="Courier New" panose="02070309020205020404" pitchFamily="49" charset="0"/>
              </a:rPr>
              <a:t>occupancy_score</a:t>
            </a:r>
            <a:r>
              <a:rPr lang="en-US" dirty="0"/>
              <a:t>, based on the </a:t>
            </a:r>
            <a:r>
              <a:rPr lang="en-US" dirty="0">
                <a:latin typeface="Courier New" panose="02070309020205020404" pitchFamily="49" charset="0"/>
              </a:rPr>
              <a:t>availability_365</a:t>
            </a:r>
            <a:r>
              <a:rPr lang="en-US" dirty="0"/>
              <a:t> column, giving a clear percentage of a property's performance.</a:t>
            </a:r>
          </a:p>
          <a:p>
            <a:pPr>
              <a:buFont typeface="Arial" panose="020B0604020202020204" pitchFamily="34" charset="0"/>
              <a:buChar char="•"/>
            </a:pPr>
            <a:endParaRPr lang="en-US" dirty="0"/>
          </a:p>
          <a:p>
            <a:pPr>
              <a:buFont typeface="Arial" panose="020B0604020202020204" pitchFamily="34" charset="0"/>
              <a:buChar char="•"/>
            </a:pPr>
            <a:r>
              <a:rPr lang="en-US" b="1" dirty="0"/>
              <a:t>Context-Aware Benchmarks:</a:t>
            </a:r>
            <a:r>
              <a:rPr lang="en-US" dirty="0"/>
              <a:t> Instead of comparing a property to the entire NYC average, we calculated </a:t>
            </a:r>
            <a:r>
              <a:rPr lang="en-US" dirty="0" err="1">
                <a:latin typeface="Courier New" panose="02070309020205020404" pitchFamily="49" charset="0"/>
              </a:rPr>
              <a:t>neighborhood_avg</a:t>
            </a:r>
            <a:r>
              <a:rPr lang="en-US" dirty="0"/>
              <a:t> to compare each property strictly to its local competitors.</a:t>
            </a:r>
          </a:p>
          <a:p>
            <a:pPr>
              <a:buFont typeface="Arial" panose="020B0604020202020204" pitchFamily="34" charset="0"/>
              <a:buChar char="•"/>
            </a:pPr>
            <a:endParaRPr lang="en-US" dirty="0"/>
          </a:p>
          <a:p>
            <a:pPr>
              <a:buFont typeface="Arial" panose="020B0604020202020204" pitchFamily="34" charset="0"/>
              <a:buChar char="•"/>
            </a:pPr>
            <a:r>
              <a:rPr lang="en-US" b="1" dirty="0"/>
              <a:t>Rule-Based AI Recommendation Engine:</a:t>
            </a:r>
            <a:r>
              <a:rPr lang="en-US" dirty="0"/>
              <a:t> We developed a custom Python function </a:t>
            </a:r>
            <a:r>
              <a:rPr lang="en-US" dirty="0" err="1">
                <a:latin typeface="Courier New" panose="02070309020205020404" pitchFamily="49" charset="0"/>
              </a:rPr>
              <a:t>get_recommendation</a:t>
            </a:r>
            <a:r>
              <a:rPr lang="en-US" dirty="0">
                <a:latin typeface="Courier New" panose="02070309020205020404" pitchFamily="49" charset="0"/>
              </a:rPr>
              <a:t>(row)</a:t>
            </a:r>
            <a:r>
              <a:rPr lang="en-US" dirty="0"/>
              <a:t> that evaluates each property and assigns one of 5 strategic actions:</a:t>
            </a:r>
          </a:p>
          <a:p>
            <a:pPr marL="742950" lvl="1" indent="-285750">
              <a:buFont typeface="Arial" panose="020B0604020202020204" pitchFamily="34" charset="0"/>
              <a:buChar char="•"/>
            </a:pPr>
            <a:r>
              <a:rPr lang="en-US" i="1" dirty="0"/>
              <a:t>Lower price to increase bookings</a:t>
            </a:r>
            <a:r>
              <a:rPr lang="en-US" dirty="0"/>
              <a:t> (For overpriced, low-engagement listings).</a:t>
            </a:r>
          </a:p>
          <a:p>
            <a:pPr marL="742950" lvl="1" indent="-285750">
              <a:buFont typeface="Arial" panose="020B0604020202020204" pitchFamily="34" charset="0"/>
              <a:buChar char="•"/>
            </a:pPr>
            <a:r>
              <a:rPr lang="en-US" i="1" dirty="0"/>
              <a:t>Reduce minimum nights for more traffic</a:t>
            </a:r>
            <a:r>
              <a:rPr lang="en-US" dirty="0"/>
              <a:t> (For listings with high entry barriers).</a:t>
            </a:r>
          </a:p>
          <a:p>
            <a:pPr marL="742950" lvl="1" indent="-285750">
              <a:buFont typeface="Arial" panose="020B0604020202020204" pitchFamily="34" charset="0"/>
              <a:buChar char="•"/>
            </a:pPr>
            <a:r>
              <a:rPr lang="en-US" i="1" dirty="0"/>
              <a:t>Improve listing description and photos</a:t>
            </a:r>
            <a:r>
              <a:rPr lang="en-US" dirty="0"/>
              <a:t> (For well-priced but ignored listings).</a:t>
            </a:r>
          </a:p>
          <a:p>
            <a:pPr marL="742950" lvl="1" indent="-285750">
              <a:buFont typeface="Arial" panose="020B0604020202020204" pitchFamily="34" charset="0"/>
              <a:buChar char="•"/>
            </a:pPr>
            <a:r>
              <a:rPr lang="en-US" i="1" dirty="0"/>
              <a:t>Keep current strategy - High Performance</a:t>
            </a:r>
            <a:r>
              <a:rPr lang="en-US" dirty="0"/>
              <a:t> (For highly successful listings).</a:t>
            </a:r>
          </a:p>
          <a:p>
            <a:pPr marL="742950" lvl="1" indent="-285750">
              <a:buFont typeface="Arial" panose="020B0604020202020204" pitchFamily="34" charset="0"/>
              <a:buChar char="•"/>
            </a:pPr>
            <a:r>
              <a:rPr lang="en-US" i="1" dirty="0"/>
              <a:t>Promote listing via social media</a:t>
            </a:r>
            <a:r>
              <a:rPr lang="en-US" dirty="0"/>
              <a:t> (Default action for average performers).</a:t>
            </a:r>
          </a:p>
        </p:txBody>
      </p:sp>
      <p:pic>
        <p:nvPicPr>
          <p:cNvPr id="5" name="Picture 4">
            <a:extLst>
              <a:ext uri="{FF2B5EF4-FFF2-40B4-BE49-F238E27FC236}">
                <a16:creationId xmlns:a16="http://schemas.microsoft.com/office/drawing/2014/main" id="{1CAA52F9-4FF9-B345-6C1C-8885C38FDCCC}"/>
              </a:ext>
            </a:extLst>
          </p:cNvPr>
          <p:cNvPicPr>
            <a:picLocks noChangeAspect="1"/>
          </p:cNvPicPr>
          <p:nvPr/>
        </p:nvPicPr>
        <p:blipFill>
          <a:blip r:embed="rId2"/>
          <a:stretch>
            <a:fillRect/>
          </a:stretch>
        </p:blipFill>
        <p:spPr>
          <a:xfrm>
            <a:off x="-1" y="4524315"/>
            <a:ext cx="7403123" cy="2333685"/>
          </a:xfrm>
          <a:prstGeom prst="rect">
            <a:avLst/>
          </a:prstGeom>
        </p:spPr>
      </p:pic>
    </p:spTree>
    <p:extLst>
      <p:ext uri="{BB962C8B-B14F-4D97-AF65-F5344CB8AC3E}">
        <p14:creationId xmlns:p14="http://schemas.microsoft.com/office/powerpoint/2010/main" val="2249266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06F42-27AE-5BB5-C863-81389B4BFA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30809F-C476-BC48-1770-05887084042E}"/>
              </a:ext>
            </a:extLst>
          </p:cNvPr>
          <p:cNvSpPr txBox="1"/>
          <p:nvPr/>
        </p:nvSpPr>
        <p:spPr>
          <a:xfrm>
            <a:off x="1398" y="0"/>
            <a:ext cx="7104078" cy="3139321"/>
          </a:xfrm>
          <a:prstGeom prst="rect">
            <a:avLst/>
          </a:prstGeom>
          <a:noFill/>
        </p:spPr>
        <p:txBody>
          <a:bodyPr wrap="square">
            <a:spAutoFit/>
          </a:bodyPr>
          <a:lstStyle/>
          <a:p>
            <a:r>
              <a:rPr lang="en-US" b="1" dirty="0"/>
              <a:t>5. Implementation &amp; Automated Advisory:</a:t>
            </a:r>
            <a:endParaRPr lang="ar-EG" b="1" dirty="0"/>
          </a:p>
          <a:p>
            <a:endParaRPr lang="en-US" dirty="0"/>
          </a:p>
          <a:p>
            <a:pPr lvl="1"/>
            <a:r>
              <a:rPr lang="en-US" dirty="0"/>
              <a:t>We successfully processed all </a:t>
            </a:r>
            <a:r>
              <a:rPr lang="en-US" b="1" dirty="0"/>
              <a:t>45,840 listings</a:t>
            </a:r>
            <a:r>
              <a:rPr lang="en-US" dirty="0"/>
              <a:t> through a custom-built diagnostic script.</a:t>
            </a:r>
            <a:endParaRPr lang="ar-EG" dirty="0"/>
          </a:p>
          <a:p>
            <a:pPr lvl="1"/>
            <a:endParaRPr lang="en-US" dirty="0"/>
          </a:p>
          <a:p>
            <a:pPr lvl="1"/>
            <a:r>
              <a:rPr lang="en-US" dirty="0"/>
              <a:t>A new feature column, </a:t>
            </a:r>
            <a:r>
              <a:rPr lang="en-US" b="1" dirty="0"/>
              <a:t>"Final Recommendation,"</a:t>
            </a:r>
            <a:r>
              <a:rPr lang="en-US" dirty="0"/>
              <a:t> was integrated into the master dataset.</a:t>
            </a:r>
            <a:endParaRPr lang="ar-EG" dirty="0"/>
          </a:p>
          <a:p>
            <a:pPr lvl="1"/>
            <a:endParaRPr lang="en-US" dirty="0"/>
          </a:p>
          <a:p>
            <a:pPr lvl="1"/>
            <a:r>
              <a:rPr lang="en-US" dirty="0"/>
              <a:t>Each host now has a </a:t>
            </a:r>
            <a:r>
              <a:rPr lang="en-US" b="1" dirty="0"/>
              <a:t>personalized strategy</a:t>
            </a:r>
            <a:r>
              <a:rPr lang="en-US" dirty="0"/>
              <a:t> (e.g., "Lower price" or "Reduce nights") mapped directly to their specific listing performance.</a:t>
            </a:r>
          </a:p>
        </p:txBody>
      </p:sp>
      <p:pic>
        <p:nvPicPr>
          <p:cNvPr id="5" name="Picture 4">
            <a:extLst>
              <a:ext uri="{FF2B5EF4-FFF2-40B4-BE49-F238E27FC236}">
                <a16:creationId xmlns:a16="http://schemas.microsoft.com/office/drawing/2014/main" id="{DBAEE9DD-E998-CEED-5C56-FF0CEFFEE55E}"/>
              </a:ext>
            </a:extLst>
          </p:cNvPr>
          <p:cNvPicPr>
            <a:picLocks noChangeAspect="1"/>
          </p:cNvPicPr>
          <p:nvPr/>
        </p:nvPicPr>
        <p:blipFill>
          <a:blip r:embed="rId2"/>
          <a:stretch>
            <a:fillRect/>
          </a:stretch>
        </p:blipFill>
        <p:spPr>
          <a:xfrm>
            <a:off x="7424257" y="0"/>
            <a:ext cx="4767743" cy="6733731"/>
          </a:xfrm>
          <a:prstGeom prst="rect">
            <a:avLst/>
          </a:prstGeom>
        </p:spPr>
      </p:pic>
    </p:spTree>
    <p:extLst>
      <p:ext uri="{BB962C8B-B14F-4D97-AF65-F5344CB8AC3E}">
        <p14:creationId xmlns:p14="http://schemas.microsoft.com/office/powerpoint/2010/main" val="566168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31631-862E-4449-C063-3AA644872D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F27E9D-672B-DDB6-69CC-744C9853AFD8}"/>
              </a:ext>
            </a:extLst>
          </p:cNvPr>
          <p:cNvSpPr txBox="1"/>
          <p:nvPr/>
        </p:nvSpPr>
        <p:spPr>
          <a:xfrm>
            <a:off x="0" y="0"/>
            <a:ext cx="12192000" cy="5078313"/>
          </a:xfrm>
          <a:prstGeom prst="rect">
            <a:avLst/>
          </a:prstGeom>
          <a:noFill/>
        </p:spPr>
        <p:txBody>
          <a:bodyPr wrap="square">
            <a:spAutoFit/>
          </a:bodyPr>
          <a:lstStyle/>
          <a:p>
            <a:pPr>
              <a:buNone/>
            </a:pPr>
            <a:r>
              <a:rPr lang="en-US" b="1" dirty="0"/>
              <a:t>Interactive AI Advisor &amp; Web Deployment (</a:t>
            </a:r>
            <a:r>
              <a:rPr lang="en-US" b="1" dirty="0" err="1"/>
              <a:t>Streamlit</a:t>
            </a:r>
            <a:r>
              <a:rPr lang="en-US" b="1" dirty="0"/>
              <a:t>) :</a:t>
            </a:r>
          </a:p>
          <a:p>
            <a:pPr>
              <a:buNone/>
            </a:pPr>
            <a:endParaRPr lang="en-US" b="1" dirty="0"/>
          </a:p>
          <a:p>
            <a:pPr marL="342900" indent="-342900">
              <a:buAutoNum type="arabicPeriod"/>
            </a:pPr>
            <a:r>
              <a:rPr lang="en-US" b="1" dirty="0"/>
              <a:t>Transitioning to a Data Product</a:t>
            </a:r>
            <a:r>
              <a:rPr lang="en-US" dirty="0"/>
              <a:t> : </a:t>
            </a:r>
          </a:p>
          <a:p>
            <a:pPr lvl="1"/>
            <a:r>
              <a:rPr lang="en-US" dirty="0"/>
              <a:t>To make our Python logic accessible to non-technical users (real estate owners), we developed and deployed a web-based application using </a:t>
            </a:r>
            <a:r>
              <a:rPr lang="en-US" b="1" dirty="0" err="1"/>
              <a:t>Streamlit</a:t>
            </a:r>
            <a:r>
              <a:rPr lang="en-US" dirty="0"/>
              <a:t>. The app serves as a real-time "AI Listing Advisor" and is hosted live on the cloud.</a:t>
            </a:r>
          </a:p>
          <a:p>
            <a:pPr marL="342900" indent="-342900">
              <a:buAutoNum type="arabicPeriod"/>
            </a:pPr>
            <a:endParaRPr lang="en-US" dirty="0"/>
          </a:p>
          <a:p>
            <a:pPr>
              <a:buNone/>
            </a:pPr>
            <a:r>
              <a:rPr lang="en-US" b="1" dirty="0"/>
              <a:t>2. Key Features of the App:</a:t>
            </a:r>
            <a:endParaRPr lang="en-US" dirty="0"/>
          </a:p>
          <a:p>
            <a:pPr lvl="1">
              <a:buFont typeface="Arial" panose="020B0604020202020204" pitchFamily="34" charset="0"/>
              <a:buChar char="•"/>
            </a:pPr>
            <a:r>
              <a:rPr lang="en-US" b="1" dirty="0"/>
              <a:t>Real-time Market KPIs:</a:t>
            </a:r>
            <a:r>
              <a:rPr lang="en-US" dirty="0"/>
              <a:t> Displays dynamic metrics such as Market Average Price, Occupancy Scores, and Listing Volumes across NYC.</a:t>
            </a:r>
          </a:p>
          <a:p>
            <a:pPr lvl="1">
              <a:buFont typeface="Arial" panose="020B0604020202020204" pitchFamily="34" charset="0"/>
              <a:buChar char="•"/>
            </a:pPr>
            <a:r>
              <a:rPr lang="en-US" b="1" dirty="0"/>
              <a:t>Interactive Data Exploration:</a:t>
            </a:r>
            <a:r>
              <a:rPr lang="en-US" dirty="0"/>
              <a:t> Allows users to filter the 45,000+ listings by Borough, Room Type, and Price Range using a sidebar controller.</a:t>
            </a:r>
          </a:p>
          <a:p>
            <a:pPr lvl="1">
              <a:buFont typeface="Arial" panose="020B0604020202020204" pitchFamily="34" charset="0"/>
              <a:buChar char="•"/>
            </a:pPr>
            <a:r>
              <a:rPr lang="en-US" b="1" dirty="0"/>
              <a:t>AI Listing Advisor (Simulator):</a:t>
            </a:r>
            <a:r>
              <a:rPr lang="en-US" dirty="0"/>
              <a:t> This is the core innovation. A user can input their property's details (Name, Borough, Price, Minimum Nights). The app then runs our </a:t>
            </a:r>
            <a:r>
              <a:rPr lang="en-US" b="1" dirty="0"/>
              <a:t>Prescriptive Logic</a:t>
            </a:r>
            <a:r>
              <a:rPr lang="en-US" dirty="0"/>
              <a:t> in the background to provide an instant diagnosis and a specific "Action Plan" to ensure the new listing is competitive.</a:t>
            </a:r>
          </a:p>
          <a:p>
            <a:pPr lvl="1">
              <a:buFont typeface="Arial" panose="020B0604020202020204" pitchFamily="34" charset="0"/>
              <a:buChar char="•"/>
            </a:pPr>
            <a:endParaRPr lang="en-US" dirty="0"/>
          </a:p>
          <a:p>
            <a:pPr>
              <a:buNone/>
            </a:pPr>
            <a:r>
              <a:rPr lang="en-US" b="1" dirty="0"/>
              <a:t>3. Visualizations &amp; Technologies:</a:t>
            </a:r>
            <a:r>
              <a:rPr lang="en-US" dirty="0"/>
              <a:t> </a:t>
            </a:r>
          </a:p>
          <a:p>
            <a:pPr lvl="1"/>
            <a:r>
              <a:rPr lang="en-US" dirty="0"/>
              <a:t>We used </a:t>
            </a:r>
            <a:r>
              <a:rPr lang="en-US" b="1" dirty="0"/>
              <a:t>Plotly Express</a:t>
            </a:r>
            <a:r>
              <a:rPr lang="en-US" dirty="0"/>
              <a:t> to create interactive charts (Pie charts for strategy distribution and Box plots for borough price ranges) that allow users to hover and explore data points individually.</a:t>
            </a:r>
          </a:p>
        </p:txBody>
      </p:sp>
    </p:spTree>
    <p:extLst>
      <p:ext uri="{BB962C8B-B14F-4D97-AF65-F5344CB8AC3E}">
        <p14:creationId xmlns:p14="http://schemas.microsoft.com/office/powerpoint/2010/main" val="732471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86F0-8909-5F95-9676-02A6E5AD767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0E8DBC-A4A6-7B6D-A0AC-BD79BF038520}"/>
              </a:ext>
            </a:extLst>
          </p:cNvPr>
          <p:cNvPicPr>
            <a:picLocks noChangeAspect="1"/>
          </p:cNvPicPr>
          <p:nvPr/>
        </p:nvPicPr>
        <p:blipFill>
          <a:blip r:embed="rId2"/>
          <a:srcRect r="22826" b="-1"/>
          <a:stretch>
            <a:fillRect/>
          </a:stretch>
        </p:blipFill>
        <p:spPr>
          <a:xfrm>
            <a:off x="0" y="0"/>
            <a:ext cx="7376718" cy="3607266"/>
          </a:xfrm>
          <a:prstGeom prst="rect">
            <a:avLst/>
          </a:prstGeom>
        </p:spPr>
      </p:pic>
      <p:pic>
        <p:nvPicPr>
          <p:cNvPr id="3" name="Picture 2">
            <a:extLst>
              <a:ext uri="{FF2B5EF4-FFF2-40B4-BE49-F238E27FC236}">
                <a16:creationId xmlns:a16="http://schemas.microsoft.com/office/drawing/2014/main" id="{E52CC044-C7CC-733E-0663-F1662509599B}"/>
              </a:ext>
            </a:extLst>
          </p:cNvPr>
          <p:cNvPicPr>
            <a:picLocks noChangeAspect="1"/>
          </p:cNvPicPr>
          <p:nvPr/>
        </p:nvPicPr>
        <p:blipFill>
          <a:blip r:embed="rId3"/>
          <a:stretch>
            <a:fillRect/>
          </a:stretch>
        </p:blipFill>
        <p:spPr>
          <a:xfrm>
            <a:off x="4815281" y="3607266"/>
            <a:ext cx="7376718" cy="3250734"/>
          </a:xfrm>
          <a:prstGeom prst="rect">
            <a:avLst/>
          </a:prstGeom>
        </p:spPr>
      </p:pic>
    </p:spTree>
    <p:extLst>
      <p:ext uri="{BB962C8B-B14F-4D97-AF65-F5344CB8AC3E}">
        <p14:creationId xmlns:p14="http://schemas.microsoft.com/office/powerpoint/2010/main" val="1317570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3E49-0DA9-66A9-EE28-F975B66684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46577E-559A-5916-6A30-63F9871059D4}"/>
              </a:ext>
            </a:extLst>
          </p:cNvPr>
          <p:cNvSpPr txBox="1"/>
          <p:nvPr/>
        </p:nvSpPr>
        <p:spPr>
          <a:xfrm>
            <a:off x="0" y="0"/>
            <a:ext cx="12192000" cy="3970318"/>
          </a:xfrm>
          <a:prstGeom prst="rect">
            <a:avLst/>
          </a:prstGeom>
          <a:noFill/>
        </p:spPr>
        <p:txBody>
          <a:bodyPr wrap="square">
            <a:spAutoFit/>
          </a:bodyPr>
          <a:lstStyle/>
          <a:p>
            <a:pPr>
              <a:buNone/>
            </a:pPr>
            <a:r>
              <a:rPr lang="en-US" b="1" dirty="0"/>
              <a:t>Interactive Power BI Dashboard Analysis :</a:t>
            </a:r>
          </a:p>
          <a:p>
            <a:pPr>
              <a:buNone/>
            </a:pPr>
            <a:r>
              <a:rPr lang="en-US" dirty="0"/>
              <a:t>The dashboard is designed to display market data from a macro perspective (the entire city) down to the granular details (micro-neighborhoods and host names). Below is a breakdown of each component:</a:t>
            </a:r>
          </a:p>
          <a:p>
            <a:pPr>
              <a:buNone/>
            </a:pPr>
            <a:endParaRPr lang="en-US" dirty="0"/>
          </a:p>
          <a:p>
            <a:pPr marL="342900" indent="-342900">
              <a:buAutoNum type="arabicPeriod"/>
            </a:pPr>
            <a:r>
              <a:rPr lang="en-US" b="1" dirty="0"/>
              <a:t>Executive KPIs</a:t>
            </a:r>
          </a:p>
          <a:p>
            <a:pPr marL="342900" indent="-342900">
              <a:buAutoNum type="arabicPeriod"/>
            </a:pPr>
            <a:endParaRPr lang="en-US" b="1" dirty="0"/>
          </a:p>
          <a:p>
            <a:pPr marL="342900" indent="-342900">
              <a:buAutoNum type="arabicPeriod"/>
            </a:pPr>
            <a:endParaRPr lang="en-US" b="1" dirty="0"/>
          </a:p>
          <a:p>
            <a:pPr marL="342900" indent="-342900">
              <a:buAutoNum type="arabicPeriod"/>
            </a:pPr>
            <a:endParaRPr lang="en-US" b="1" dirty="0"/>
          </a:p>
          <a:p>
            <a:pPr marL="342900" indent="-342900">
              <a:buAutoNum type="arabicPeriod"/>
            </a:pPr>
            <a:endParaRPr lang="en-US" b="1" dirty="0"/>
          </a:p>
          <a:p>
            <a:pPr>
              <a:buNone/>
            </a:pPr>
            <a:r>
              <a:rPr lang="en-US" b="1" dirty="0"/>
              <a:t>What We Did:</a:t>
            </a:r>
            <a:r>
              <a:rPr lang="en-US" dirty="0"/>
              <a:t> In this section, we designed a set of Key Performance Indicator (KPI) cards to summarize the entire market status at a glance. Through these, investors can see that the total number of active listings is approximately </a:t>
            </a:r>
            <a:r>
              <a:rPr lang="en-US" b="1" dirty="0"/>
              <a:t>44.47K</a:t>
            </a:r>
            <a:r>
              <a:rPr lang="en-US" dirty="0"/>
              <a:t>, with an average nightly price of </a:t>
            </a:r>
            <a:r>
              <a:rPr lang="en-US" b="1" dirty="0"/>
              <a:t>$119.99</a:t>
            </a:r>
            <a:r>
              <a:rPr lang="en-US" dirty="0"/>
              <a:t>, and an average occupancy score of </a:t>
            </a:r>
            <a:r>
              <a:rPr lang="en-US" b="1" dirty="0"/>
              <a:t>70.06</a:t>
            </a:r>
            <a:r>
              <a:rPr lang="en-US" dirty="0"/>
              <a:t>. We also highlighted a critical market issue: the average "Minimum Nights" requirement is exceptionally high at </a:t>
            </a:r>
            <a:r>
              <a:rPr lang="en-US" b="1" dirty="0"/>
              <a:t>6.58 days</a:t>
            </a:r>
            <a:r>
              <a:rPr lang="en-US" dirty="0"/>
              <a:t>, which significantly reduces the chances of securing short-term bookings.</a:t>
            </a:r>
          </a:p>
        </p:txBody>
      </p:sp>
      <p:pic>
        <p:nvPicPr>
          <p:cNvPr id="7" name="Picture 6">
            <a:extLst>
              <a:ext uri="{FF2B5EF4-FFF2-40B4-BE49-F238E27FC236}">
                <a16:creationId xmlns:a16="http://schemas.microsoft.com/office/drawing/2014/main" id="{46FA1136-4562-6310-0B3E-CD50FC304031}"/>
              </a:ext>
            </a:extLst>
          </p:cNvPr>
          <p:cNvPicPr>
            <a:picLocks noChangeAspect="1"/>
          </p:cNvPicPr>
          <p:nvPr/>
        </p:nvPicPr>
        <p:blipFill>
          <a:blip r:embed="rId2"/>
          <a:stretch>
            <a:fillRect/>
          </a:stretch>
        </p:blipFill>
        <p:spPr>
          <a:xfrm>
            <a:off x="0" y="1450985"/>
            <a:ext cx="12192000" cy="855987"/>
          </a:xfrm>
          <a:prstGeom prst="rect">
            <a:avLst/>
          </a:prstGeom>
        </p:spPr>
      </p:pic>
    </p:spTree>
    <p:extLst>
      <p:ext uri="{BB962C8B-B14F-4D97-AF65-F5344CB8AC3E}">
        <p14:creationId xmlns:p14="http://schemas.microsoft.com/office/powerpoint/2010/main" val="2656143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67547-77FF-7162-BC1B-AD990A0B5F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1DD743-30AF-6BC2-EA8E-92AA1EEA9B32}"/>
              </a:ext>
            </a:extLst>
          </p:cNvPr>
          <p:cNvSpPr txBox="1"/>
          <p:nvPr/>
        </p:nvSpPr>
        <p:spPr>
          <a:xfrm>
            <a:off x="-1398" y="1785936"/>
            <a:ext cx="12192000" cy="1477328"/>
          </a:xfrm>
          <a:prstGeom prst="rect">
            <a:avLst/>
          </a:prstGeom>
          <a:noFill/>
        </p:spPr>
        <p:txBody>
          <a:bodyPr wrap="square">
            <a:spAutoFit/>
          </a:bodyPr>
          <a:lstStyle/>
          <a:p>
            <a:pPr>
              <a:buNone/>
            </a:pPr>
            <a:r>
              <a:rPr lang="en-US" b="1" dirty="0"/>
              <a:t>What We Did:</a:t>
            </a:r>
            <a:r>
              <a:rPr lang="en-US" dirty="0"/>
              <a:t> </a:t>
            </a:r>
          </a:p>
          <a:p>
            <a:pPr>
              <a:buNone/>
            </a:pPr>
            <a:r>
              <a:rPr lang="en-US" dirty="0"/>
              <a:t>We utilized a Donut Chart to visualize the distribution of the recommendations generated by our AI algorithm. This chart provides an actual diagnosis of the market's health, revealing that about </a:t>
            </a:r>
            <a:r>
              <a:rPr lang="en-US" b="1" dirty="0"/>
              <a:t>26.9%</a:t>
            </a:r>
            <a:r>
              <a:rPr lang="en-US" dirty="0"/>
              <a:t> of properties need to reduce their minimum nights to increase traffic, while </a:t>
            </a:r>
            <a:r>
              <a:rPr lang="en-US" b="1" dirty="0"/>
              <a:t>20.2%</a:t>
            </a:r>
            <a:r>
              <a:rPr lang="en-US" dirty="0"/>
              <a:t> need to lower their prices to remain competitive. This visual transforms raw data into a clear "roadmap" for improving host performance.</a:t>
            </a:r>
          </a:p>
        </p:txBody>
      </p:sp>
      <p:sp>
        <p:nvSpPr>
          <p:cNvPr id="5" name="TextBox 4">
            <a:extLst>
              <a:ext uri="{FF2B5EF4-FFF2-40B4-BE49-F238E27FC236}">
                <a16:creationId xmlns:a16="http://schemas.microsoft.com/office/drawing/2014/main" id="{F01CE474-86C8-0C70-BB5A-70B9FF24A50F}"/>
              </a:ext>
            </a:extLst>
          </p:cNvPr>
          <p:cNvSpPr txBox="1"/>
          <p:nvPr/>
        </p:nvSpPr>
        <p:spPr>
          <a:xfrm>
            <a:off x="0" y="0"/>
            <a:ext cx="6094602" cy="369332"/>
          </a:xfrm>
          <a:prstGeom prst="rect">
            <a:avLst/>
          </a:prstGeom>
          <a:noFill/>
        </p:spPr>
        <p:txBody>
          <a:bodyPr wrap="square">
            <a:spAutoFit/>
          </a:bodyPr>
          <a:lstStyle/>
          <a:p>
            <a:pPr>
              <a:buNone/>
            </a:pPr>
            <a:r>
              <a:rPr lang="en-US" b="1" dirty="0"/>
              <a:t>2. Market Strategy Distribution</a:t>
            </a:r>
          </a:p>
        </p:txBody>
      </p:sp>
      <p:pic>
        <p:nvPicPr>
          <p:cNvPr id="7" name="Picture 6">
            <a:extLst>
              <a:ext uri="{FF2B5EF4-FFF2-40B4-BE49-F238E27FC236}">
                <a16:creationId xmlns:a16="http://schemas.microsoft.com/office/drawing/2014/main" id="{5350EDF7-D587-4071-CF38-A11DD7C9627B}"/>
              </a:ext>
            </a:extLst>
          </p:cNvPr>
          <p:cNvPicPr>
            <a:picLocks noChangeAspect="1"/>
          </p:cNvPicPr>
          <p:nvPr/>
        </p:nvPicPr>
        <p:blipFill>
          <a:blip r:embed="rId2"/>
          <a:stretch>
            <a:fillRect/>
          </a:stretch>
        </p:blipFill>
        <p:spPr>
          <a:xfrm>
            <a:off x="4296125" y="184666"/>
            <a:ext cx="5107933" cy="1601270"/>
          </a:xfrm>
          <a:prstGeom prst="rect">
            <a:avLst/>
          </a:prstGeom>
        </p:spPr>
      </p:pic>
      <p:sp>
        <p:nvSpPr>
          <p:cNvPr id="9" name="TextBox 8">
            <a:extLst>
              <a:ext uri="{FF2B5EF4-FFF2-40B4-BE49-F238E27FC236}">
                <a16:creationId xmlns:a16="http://schemas.microsoft.com/office/drawing/2014/main" id="{2AD8ACBD-2FE8-2422-4E2F-044E5055E6DF}"/>
              </a:ext>
            </a:extLst>
          </p:cNvPr>
          <p:cNvSpPr txBox="1"/>
          <p:nvPr/>
        </p:nvSpPr>
        <p:spPr>
          <a:xfrm>
            <a:off x="0" y="3673837"/>
            <a:ext cx="12192000" cy="369332"/>
          </a:xfrm>
          <a:prstGeom prst="rect">
            <a:avLst/>
          </a:prstGeom>
          <a:noFill/>
        </p:spPr>
        <p:txBody>
          <a:bodyPr wrap="square">
            <a:spAutoFit/>
          </a:bodyPr>
          <a:lstStyle/>
          <a:p>
            <a:pPr>
              <a:buNone/>
            </a:pPr>
            <a:r>
              <a:rPr lang="en-US" b="1" dirty="0"/>
              <a:t>3. Geographic Pricing Discrepancy</a:t>
            </a:r>
          </a:p>
        </p:txBody>
      </p:sp>
      <p:pic>
        <p:nvPicPr>
          <p:cNvPr id="11" name="Picture 10">
            <a:extLst>
              <a:ext uri="{FF2B5EF4-FFF2-40B4-BE49-F238E27FC236}">
                <a16:creationId xmlns:a16="http://schemas.microsoft.com/office/drawing/2014/main" id="{1A924766-E93F-3C60-DD0D-ABA65F103328}"/>
              </a:ext>
            </a:extLst>
          </p:cNvPr>
          <p:cNvPicPr>
            <a:picLocks noChangeAspect="1"/>
          </p:cNvPicPr>
          <p:nvPr/>
        </p:nvPicPr>
        <p:blipFill>
          <a:blip r:embed="rId3"/>
          <a:stretch>
            <a:fillRect/>
          </a:stretch>
        </p:blipFill>
        <p:spPr>
          <a:xfrm>
            <a:off x="6153325" y="3673836"/>
            <a:ext cx="5715259" cy="2164901"/>
          </a:xfrm>
          <a:prstGeom prst="rect">
            <a:avLst/>
          </a:prstGeom>
        </p:spPr>
      </p:pic>
      <p:sp>
        <p:nvSpPr>
          <p:cNvPr id="13" name="TextBox 12">
            <a:extLst>
              <a:ext uri="{FF2B5EF4-FFF2-40B4-BE49-F238E27FC236}">
                <a16:creationId xmlns:a16="http://schemas.microsoft.com/office/drawing/2014/main" id="{43A9BB9F-67F1-31A5-9F10-0BD237A48C52}"/>
              </a:ext>
            </a:extLst>
          </p:cNvPr>
          <p:cNvSpPr txBox="1"/>
          <p:nvPr/>
        </p:nvSpPr>
        <p:spPr>
          <a:xfrm>
            <a:off x="0" y="4209392"/>
            <a:ext cx="6094602" cy="2308324"/>
          </a:xfrm>
          <a:prstGeom prst="rect">
            <a:avLst/>
          </a:prstGeom>
          <a:noFill/>
        </p:spPr>
        <p:txBody>
          <a:bodyPr wrap="square">
            <a:spAutoFit/>
          </a:bodyPr>
          <a:lstStyle/>
          <a:p>
            <a:pPr>
              <a:buNone/>
            </a:pPr>
            <a:endParaRPr lang="en-US" b="1" dirty="0"/>
          </a:p>
          <a:p>
            <a:pPr>
              <a:buNone/>
            </a:pPr>
            <a:r>
              <a:rPr lang="en-US" b="1" dirty="0"/>
              <a:t>What We Did:</a:t>
            </a:r>
            <a:r>
              <a:rPr lang="en-US" dirty="0"/>
              <a:t> </a:t>
            </a:r>
          </a:p>
          <a:p>
            <a:pPr>
              <a:buNone/>
            </a:pPr>
            <a:r>
              <a:rPr lang="en-US" dirty="0"/>
              <a:t>To understand the purchasing power differences across NYC's five boroughs, we built a clustered bar chart comparing average prices. The analysis clearly shows that </a:t>
            </a:r>
            <a:r>
              <a:rPr lang="en-US" b="1" dirty="0"/>
              <a:t>Manhattan</a:t>
            </a:r>
            <a:r>
              <a:rPr lang="en-US" dirty="0"/>
              <a:t> leads the market as the most premium borough, followed by </a:t>
            </a:r>
            <a:r>
              <a:rPr lang="en-US" b="1" dirty="0"/>
              <a:t>Brooklyn</a:t>
            </a:r>
            <a:r>
              <a:rPr lang="en-US" dirty="0"/>
              <a:t>. This guides new investors in setting their budgets based on their target geographic location.</a:t>
            </a:r>
          </a:p>
        </p:txBody>
      </p:sp>
    </p:spTree>
    <p:extLst>
      <p:ext uri="{BB962C8B-B14F-4D97-AF65-F5344CB8AC3E}">
        <p14:creationId xmlns:p14="http://schemas.microsoft.com/office/powerpoint/2010/main" val="655463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CFBBC8-8ACA-1634-098E-BF113FE2AD47}"/>
              </a:ext>
            </a:extLst>
          </p:cNvPr>
          <p:cNvSpPr txBox="1"/>
          <p:nvPr/>
        </p:nvSpPr>
        <p:spPr>
          <a:xfrm>
            <a:off x="0" y="0"/>
            <a:ext cx="12192000" cy="2862322"/>
          </a:xfrm>
          <a:prstGeom prst="rect">
            <a:avLst/>
          </a:prstGeom>
          <a:noFill/>
        </p:spPr>
        <p:txBody>
          <a:bodyPr wrap="square">
            <a:spAutoFit/>
          </a:bodyPr>
          <a:lstStyle/>
          <a:p>
            <a:pPr>
              <a:buNone/>
            </a:pPr>
            <a:r>
              <a:rPr lang="en-US" b="1" dirty="0"/>
              <a:t>4. Geospatial Analysis</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r>
              <a:rPr lang="en-US" b="1" dirty="0"/>
              <a:t>What We Did:</a:t>
            </a:r>
            <a:r>
              <a:rPr lang="en-US" dirty="0"/>
              <a:t> </a:t>
            </a:r>
          </a:p>
          <a:p>
            <a:pPr>
              <a:buNone/>
            </a:pPr>
            <a:r>
              <a:rPr lang="en-US" dirty="0"/>
              <a:t>Using Latitude and Longitude coordinates, we activated a Map Visual that plots each property as a point on the actual map of New York City. These points are color-coded based on the "Final Recommendation", allowing investors to geographically spot clusters of overpriced properties (hotspots) and identify areas with better investment opportunities.</a:t>
            </a:r>
          </a:p>
        </p:txBody>
      </p:sp>
      <p:pic>
        <p:nvPicPr>
          <p:cNvPr id="7" name="Picture 6">
            <a:extLst>
              <a:ext uri="{FF2B5EF4-FFF2-40B4-BE49-F238E27FC236}">
                <a16:creationId xmlns:a16="http://schemas.microsoft.com/office/drawing/2014/main" id="{CC6F4986-026E-15FC-6C14-DC683D9D5125}"/>
              </a:ext>
            </a:extLst>
          </p:cNvPr>
          <p:cNvPicPr>
            <a:picLocks noChangeAspect="1"/>
          </p:cNvPicPr>
          <p:nvPr/>
        </p:nvPicPr>
        <p:blipFill>
          <a:blip r:embed="rId2"/>
          <a:stretch>
            <a:fillRect/>
          </a:stretch>
        </p:blipFill>
        <p:spPr>
          <a:xfrm>
            <a:off x="4823670" y="0"/>
            <a:ext cx="7368330" cy="1803633"/>
          </a:xfrm>
          <a:prstGeom prst="rect">
            <a:avLst/>
          </a:prstGeom>
        </p:spPr>
      </p:pic>
      <p:sp>
        <p:nvSpPr>
          <p:cNvPr id="9" name="TextBox 8">
            <a:extLst>
              <a:ext uri="{FF2B5EF4-FFF2-40B4-BE49-F238E27FC236}">
                <a16:creationId xmlns:a16="http://schemas.microsoft.com/office/drawing/2014/main" id="{13EF8325-9DF5-4B7E-BAC3-FCA2CEB7F040}"/>
              </a:ext>
            </a:extLst>
          </p:cNvPr>
          <p:cNvSpPr txBox="1"/>
          <p:nvPr/>
        </p:nvSpPr>
        <p:spPr>
          <a:xfrm>
            <a:off x="-41945" y="3429000"/>
            <a:ext cx="12192000" cy="3139321"/>
          </a:xfrm>
          <a:prstGeom prst="rect">
            <a:avLst/>
          </a:prstGeom>
          <a:noFill/>
        </p:spPr>
        <p:txBody>
          <a:bodyPr wrap="square">
            <a:spAutoFit/>
          </a:bodyPr>
          <a:lstStyle/>
          <a:p>
            <a:pPr>
              <a:buNone/>
            </a:pPr>
            <a:r>
              <a:rPr lang="en-US" b="1" dirty="0"/>
              <a:t>5. Micro-Neighborhood Analysis</a:t>
            </a:r>
          </a:p>
          <a:p>
            <a:pPr>
              <a:buNone/>
            </a:pPr>
            <a:endParaRPr lang="en-US" b="1" dirty="0"/>
          </a:p>
          <a:p>
            <a:pPr>
              <a:buNone/>
            </a:pPr>
            <a:endParaRPr lang="en-US" b="1" dirty="0"/>
          </a:p>
          <a:p>
            <a:pPr>
              <a:buNone/>
            </a:pPr>
            <a:endParaRPr lang="en-US" b="1" dirty="0"/>
          </a:p>
          <a:p>
            <a:pPr>
              <a:buNone/>
            </a:pPr>
            <a:endParaRPr lang="en-US" b="1" dirty="0"/>
          </a:p>
          <a:p>
            <a:pPr>
              <a:buNone/>
            </a:pPr>
            <a:endParaRPr lang="en-US" dirty="0"/>
          </a:p>
          <a:p>
            <a:pPr>
              <a:buNone/>
            </a:pPr>
            <a:r>
              <a:rPr lang="en-US" b="1" dirty="0"/>
              <a:t>What We Did:</a:t>
            </a:r>
            <a:r>
              <a:rPr lang="en-US" dirty="0"/>
              <a:t> </a:t>
            </a:r>
          </a:p>
          <a:p>
            <a:pPr>
              <a:buNone/>
            </a:pPr>
            <a:r>
              <a:rPr lang="en-US" dirty="0"/>
              <a:t>To dive deeper into the details, we created a Table filtered to display only the </a:t>
            </a:r>
            <a:r>
              <a:rPr lang="en-US" b="1" dirty="0"/>
              <a:t>Top 10 most expensive micro-neighborhoods</a:t>
            </a:r>
            <a:r>
              <a:rPr lang="en-US" dirty="0"/>
              <a:t> in NYC (e.g., Midtown, Chelsea). Alongside it, we used a </a:t>
            </a:r>
            <a:r>
              <a:rPr lang="en-US" dirty="0" err="1"/>
              <a:t>Treemap</a:t>
            </a:r>
            <a:r>
              <a:rPr lang="en-US" dirty="0"/>
              <a:t> to illustrate the "listing density" in each area; larger blocks (like Williamsburg) represent neighborhoods with the highest concentration of properties and the most intense competition.</a:t>
            </a:r>
          </a:p>
        </p:txBody>
      </p:sp>
      <p:pic>
        <p:nvPicPr>
          <p:cNvPr id="11" name="Picture 10">
            <a:extLst>
              <a:ext uri="{FF2B5EF4-FFF2-40B4-BE49-F238E27FC236}">
                <a16:creationId xmlns:a16="http://schemas.microsoft.com/office/drawing/2014/main" id="{E4F8E183-A3D9-9C09-DD21-DC16A9B60E60}"/>
              </a:ext>
            </a:extLst>
          </p:cNvPr>
          <p:cNvPicPr>
            <a:picLocks noChangeAspect="1"/>
          </p:cNvPicPr>
          <p:nvPr/>
        </p:nvPicPr>
        <p:blipFill>
          <a:blip r:embed="rId3"/>
          <a:stretch>
            <a:fillRect/>
          </a:stretch>
        </p:blipFill>
        <p:spPr>
          <a:xfrm>
            <a:off x="4697836" y="3011648"/>
            <a:ext cx="7452220" cy="2337758"/>
          </a:xfrm>
          <a:prstGeom prst="rect">
            <a:avLst/>
          </a:prstGeom>
        </p:spPr>
      </p:pic>
    </p:spTree>
    <p:extLst>
      <p:ext uri="{BB962C8B-B14F-4D97-AF65-F5344CB8AC3E}">
        <p14:creationId xmlns:p14="http://schemas.microsoft.com/office/powerpoint/2010/main" val="3992972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41D3E-481C-C6BD-2967-5F56587875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9368EF-EF60-5289-74E1-74BBC4C12F44}"/>
              </a:ext>
            </a:extLst>
          </p:cNvPr>
          <p:cNvSpPr txBox="1"/>
          <p:nvPr/>
        </p:nvSpPr>
        <p:spPr>
          <a:xfrm>
            <a:off x="1" y="0"/>
            <a:ext cx="9513116" cy="6740307"/>
          </a:xfrm>
          <a:prstGeom prst="rect">
            <a:avLst/>
          </a:prstGeom>
          <a:noFill/>
        </p:spPr>
        <p:txBody>
          <a:bodyPr wrap="square">
            <a:spAutoFit/>
          </a:bodyPr>
          <a:lstStyle/>
          <a:p>
            <a:pPr>
              <a:buNone/>
            </a:pPr>
            <a:r>
              <a:rPr lang="en-US" b="1" dirty="0"/>
              <a:t>Interactive Data Controls: The Navigation Slicers</a:t>
            </a:r>
            <a:endParaRPr lang="ar-EG" b="1" dirty="0"/>
          </a:p>
          <a:p>
            <a:pPr>
              <a:buNone/>
            </a:pPr>
            <a:endParaRPr lang="en-US" b="1" dirty="0"/>
          </a:p>
          <a:p>
            <a:pPr>
              <a:buNone/>
            </a:pPr>
            <a:r>
              <a:rPr lang="en-US" b="1" dirty="0"/>
              <a:t>What We Did :</a:t>
            </a:r>
            <a:endParaRPr lang="ar-EG" dirty="0"/>
          </a:p>
          <a:p>
            <a:pPr>
              <a:buNone/>
            </a:pPr>
            <a:r>
              <a:rPr lang="en-US" dirty="0"/>
              <a:t>In this section, we integrated </a:t>
            </a:r>
            <a:r>
              <a:rPr lang="en-US" b="1" dirty="0"/>
              <a:t>Interactive Slicers</a:t>
            </a:r>
            <a:r>
              <a:rPr lang="en-US" dirty="0"/>
              <a:t> for </a:t>
            </a:r>
            <a:r>
              <a:rPr lang="en-US" dirty="0" err="1">
                <a:latin typeface="Courier New" panose="02070309020205020404" pitchFamily="49" charset="0"/>
              </a:rPr>
              <a:t>neighbourhood_group</a:t>
            </a:r>
            <a:r>
              <a:rPr lang="en-US" dirty="0"/>
              <a:t> and </a:t>
            </a:r>
            <a:r>
              <a:rPr lang="en-US" dirty="0" err="1">
                <a:latin typeface="Courier New" panose="02070309020205020404" pitchFamily="49" charset="0"/>
              </a:rPr>
              <a:t>room_type</a:t>
            </a:r>
            <a:r>
              <a:rPr lang="en-US" dirty="0"/>
              <a:t>. These are not just static lists; they serve as the primary "Remote Control" for the entire dashboard. By selecting any specific borough or accommodation type, the user triggers an immediate recalculation across all other visuals.</a:t>
            </a:r>
            <a:endParaRPr lang="ar-EG" dirty="0"/>
          </a:p>
          <a:p>
            <a:pPr>
              <a:buNone/>
            </a:pPr>
            <a:endParaRPr lang="en-US" dirty="0"/>
          </a:p>
          <a:p>
            <a:pPr>
              <a:buNone/>
            </a:pPr>
            <a:r>
              <a:rPr lang="en-US" b="1" dirty="0"/>
              <a:t>Key Features &amp; Insights:</a:t>
            </a:r>
          </a:p>
          <a:p>
            <a:pPr lvl="1"/>
            <a:endParaRPr lang="en-US" dirty="0"/>
          </a:p>
          <a:p>
            <a:pPr lvl="1"/>
            <a:r>
              <a:rPr lang="en-US" b="1" dirty="0"/>
              <a:t>Dynamic Cross-Filtering:</a:t>
            </a:r>
            <a:r>
              <a:rPr lang="ar-EG" b="1" dirty="0"/>
              <a:t> </a:t>
            </a:r>
          </a:p>
          <a:p>
            <a:pPr lvl="2"/>
            <a:r>
              <a:rPr lang="en-US" dirty="0"/>
              <a:t>Selecting a specific segment (e.g., "Brooklyn" + "Private Room") instantly updates the KPIs, the Map, and the Strategic Recommendations to reflect only that specific market niche.</a:t>
            </a:r>
            <a:endParaRPr lang="ar-EG" dirty="0"/>
          </a:p>
          <a:p>
            <a:pPr lvl="1">
              <a:buFont typeface="Arial" panose="020B0604020202020204" pitchFamily="34" charset="0"/>
              <a:buChar char="•"/>
            </a:pPr>
            <a:endParaRPr lang="en-US" dirty="0"/>
          </a:p>
          <a:p>
            <a:pPr lvl="1">
              <a:buFont typeface="Arial" panose="020B0604020202020204" pitchFamily="34" charset="0"/>
              <a:buChar char="•"/>
            </a:pPr>
            <a:r>
              <a:rPr lang="en-US" b="1" dirty="0"/>
              <a:t>Hyperlocal Investigation:</a:t>
            </a:r>
            <a:r>
              <a:rPr lang="en-US" dirty="0"/>
              <a:t> </a:t>
            </a:r>
            <a:endParaRPr lang="ar-EG" dirty="0"/>
          </a:p>
          <a:p>
            <a:pPr lvl="2"/>
            <a:r>
              <a:rPr lang="en-US" dirty="0"/>
              <a:t>This allows investors to drill down from the city-wide perspective to a granular level. For example, they can isolate Manhattan to see which specific neighborhoods are overpriced.</a:t>
            </a:r>
            <a:endParaRPr lang="ar-EG" dirty="0"/>
          </a:p>
          <a:p>
            <a:pPr lvl="1">
              <a:buFont typeface="Arial" panose="020B0604020202020204" pitchFamily="34" charset="0"/>
              <a:buChar char="•"/>
            </a:pPr>
            <a:endParaRPr lang="en-US" dirty="0"/>
          </a:p>
          <a:p>
            <a:pPr lvl="1">
              <a:buFont typeface="Arial" panose="020B0604020202020204" pitchFamily="34" charset="0"/>
              <a:buChar char="•"/>
            </a:pPr>
            <a:r>
              <a:rPr lang="en-US" b="1" dirty="0"/>
              <a:t>User-Centric Experience (UX):</a:t>
            </a:r>
            <a:r>
              <a:rPr lang="en-US" dirty="0"/>
              <a:t> </a:t>
            </a:r>
            <a:endParaRPr lang="ar-EG" dirty="0"/>
          </a:p>
          <a:p>
            <a:pPr lvl="2"/>
            <a:r>
              <a:rPr lang="en-US" dirty="0"/>
              <a:t>We designed these slicers to ensure that the 45,000+ data points are manageable and that stakeholders can find relevant insights within seconds by toggling different market parameters.</a:t>
            </a:r>
          </a:p>
        </p:txBody>
      </p:sp>
      <p:pic>
        <p:nvPicPr>
          <p:cNvPr id="5" name="Picture 4">
            <a:extLst>
              <a:ext uri="{FF2B5EF4-FFF2-40B4-BE49-F238E27FC236}">
                <a16:creationId xmlns:a16="http://schemas.microsoft.com/office/drawing/2014/main" id="{923C4644-A14E-237C-7BF5-19213501C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3118" y="1770330"/>
            <a:ext cx="2678882" cy="3615402"/>
          </a:xfrm>
          <a:prstGeom prst="rect">
            <a:avLst/>
          </a:prstGeom>
        </p:spPr>
      </p:pic>
    </p:spTree>
    <p:extLst>
      <p:ext uri="{BB962C8B-B14F-4D97-AF65-F5344CB8AC3E}">
        <p14:creationId xmlns:p14="http://schemas.microsoft.com/office/powerpoint/2010/main" val="1040344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A8A0-03D1-8F4E-E85F-1CFD1D583D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0AB77A9-9EEC-317C-7DFB-DAF19DDFA57D}"/>
              </a:ext>
            </a:extLst>
          </p:cNvPr>
          <p:cNvSpPr txBox="1"/>
          <p:nvPr/>
        </p:nvSpPr>
        <p:spPr>
          <a:xfrm>
            <a:off x="0" y="0"/>
            <a:ext cx="9521506" cy="3970318"/>
          </a:xfrm>
          <a:prstGeom prst="rect">
            <a:avLst/>
          </a:prstGeom>
          <a:noFill/>
        </p:spPr>
        <p:txBody>
          <a:bodyPr wrap="square">
            <a:spAutoFit/>
          </a:bodyPr>
          <a:lstStyle/>
          <a:p>
            <a:pPr>
              <a:buNone/>
            </a:pPr>
            <a:r>
              <a:rPr lang="en-US" b="1" dirty="0"/>
              <a:t>Interactive Market Navigation (The Control Center) :</a:t>
            </a:r>
          </a:p>
          <a:p>
            <a:pPr>
              <a:buNone/>
            </a:pPr>
            <a:endParaRPr lang="en-US" dirty="0"/>
          </a:p>
          <a:p>
            <a:pPr>
              <a:buFont typeface="Arial" panose="020B0604020202020204" pitchFamily="34" charset="0"/>
              <a:buChar char="•"/>
            </a:pPr>
            <a:r>
              <a:rPr lang="en-US" b="1" dirty="0"/>
              <a:t>What We Did:</a:t>
            </a:r>
            <a:r>
              <a:rPr lang="en-US" dirty="0"/>
              <a:t> </a:t>
            </a:r>
          </a:p>
          <a:p>
            <a:pPr lvl="1"/>
            <a:r>
              <a:rPr lang="en-US" dirty="0"/>
              <a:t>Integrated dynamic cross-filtering slicers for </a:t>
            </a:r>
            <a:r>
              <a:rPr lang="en-US" dirty="0" err="1">
                <a:latin typeface="Courier New" panose="02070309020205020404" pitchFamily="49" charset="0"/>
              </a:rPr>
              <a:t>neighbourhood_group</a:t>
            </a:r>
            <a:r>
              <a:rPr lang="en-US" dirty="0"/>
              <a:t> and </a:t>
            </a:r>
            <a:r>
              <a:rPr lang="en-US" dirty="0" err="1">
                <a:latin typeface="Courier New" panose="02070309020205020404" pitchFamily="49" charset="0"/>
              </a:rPr>
              <a:t>room_type</a:t>
            </a:r>
            <a:r>
              <a:rPr lang="en-US" dirty="0"/>
              <a:t> to allow real-time data exploration.</a:t>
            </a:r>
          </a:p>
          <a:p>
            <a:pPr lvl="1"/>
            <a:endParaRPr lang="en-US" dirty="0"/>
          </a:p>
          <a:p>
            <a:pPr>
              <a:buFont typeface="Arial" panose="020B0604020202020204" pitchFamily="34" charset="0"/>
              <a:buChar char="•"/>
            </a:pPr>
            <a:r>
              <a:rPr lang="en-US" b="1" dirty="0"/>
              <a:t>Strategic Value:</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Customized Insights:</a:t>
            </a:r>
            <a:r>
              <a:rPr lang="en-US" dirty="0"/>
              <a:t> Investors don't have to analyze 45,000 listings at once. They can isolate specific markets (e.g., Manhattan + Entire Home) to get a targeted action plan.</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Decision Support:</a:t>
            </a:r>
            <a:r>
              <a:rPr lang="en-US" dirty="0"/>
              <a:t> This transforms the dashboard from a static report into an interactive "Decision Support System" where KPIs update instantly based on user selection.</a:t>
            </a:r>
          </a:p>
        </p:txBody>
      </p:sp>
      <p:pic>
        <p:nvPicPr>
          <p:cNvPr id="7" name="Picture 6">
            <a:extLst>
              <a:ext uri="{FF2B5EF4-FFF2-40B4-BE49-F238E27FC236}">
                <a16:creationId xmlns:a16="http://schemas.microsoft.com/office/drawing/2014/main" id="{16B28026-102B-7361-F8B8-FC0C1B4D29CF}"/>
              </a:ext>
            </a:extLst>
          </p:cNvPr>
          <p:cNvPicPr>
            <a:picLocks noChangeAspect="1"/>
          </p:cNvPicPr>
          <p:nvPr/>
        </p:nvPicPr>
        <p:blipFill>
          <a:blip r:embed="rId2">
            <a:extLst>
              <a:ext uri="{28A0092B-C50C-407E-A947-70E740481C1C}">
                <a14:useLocalDpi xmlns:a14="http://schemas.microsoft.com/office/drawing/2010/main" val="0"/>
              </a:ext>
            </a:extLst>
          </a:blip>
          <a:srcRect r="54112"/>
          <a:stretch>
            <a:fillRect/>
          </a:stretch>
        </p:blipFill>
        <p:spPr>
          <a:xfrm>
            <a:off x="9521506" y="0"/>
            <a:ext cx="2670494" cy="3506598"/>
          </a:xfrm>
          <a:prstGeom prst="rect">
            <a:avLst/>
          </a:prstGeom>
        </p:spPr>
      </p:pic>
    </p:spTree>
    <p:extLst>
      <p:ext uri="{BB962C8B-B14F-4D97-AF65-F5344CB8AC3E}">
        <p14:creationId xmlns:p14="http://schemas.microsoft.com/office/powerpoint/2010/main" val="2045837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0ED8-2855-790F-98CE-F49B8B7377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47FA1D-2C9D-BA7B-60CE-E9C20CC17DBB}"/>
              </a:ext>
            </a:extLst>
          </p:cNvPr>
          <p:cNvSpPr txBox="1"/>
          <p:nvPr/>
        </p:nvSpPr>
        <p:spPr>
          <a:xfrm>
            <a:off x="0" y="0"/>
            <a:ext cx="8783273" cy="4801314"/>
          </a:xfrm>
          <a:prstGeom prst="rect">
            <a:avLst/>
          </a:prstGeom>
          <a:noFill/>
        </p:spPr>
        <p:txBody>
          <a:bodyPr wrap="square">
            <a:spAutoFit/>
          </a:bodyPr>
          <a:lstStyle/>
          <a:p>
            <a:pPr>
              <a:buNone/>
            </a:pPr>
            <a:r>
              <a:rPr lang="en-US" b="1" dirty="0"/>
              <a:t>Market Composition &amp; Key Players Analysis :</a:t>
            </a:r>
          </a:p>
          <a:p>
            <a:pPr>
              <a:buNone/>
            </a:pPr>
            <a:endParaRPr lang="en-US" dirty="0"/>
          </a:p>
          <a:p>
            <a:pPr>
              <a:buFont typeface="Arial" panose="020B0604020202020204" pitchFamily="34" charset="0"/>
              <a:buChar char="•"/>
            </a:pPr>
            <a:r>
              <a:rPr lang="en-US" b="1" dirty="0"/>
              <a:t>What We Did:</a:t>
            </a:r>
            <a:r>
              <a:rPr lang="en-US" dirty="0"/>
              <a:t> </a:t>
            </a:r>
          </a:p>
          <a:p>
            <a:pPr lvl="1"/>
            <a:r>
              <a:rPr lang="en-US" dirty="0"/>
              <a:t>Developed a Funnel Chart to analyze accommodation trends and a Bar Chart to identify the Top 5 market leaders.</a:t>
            </a:r>
          </a:p>
          <a:p>
            <a:pPr lvl="1"/>
            <a:endParaRPr lang="en-US" dirty="0"/>
          </a:p>
          <a:p>
            <a:pPr>
              <a:buFont typeface="Arial" panose="020B0604020202020204" pitchFamily="34" charset="0"/>
              <a:buChar char="•"/>
            </a:pPr>
            <a:r>
              <a:rPr lang="en-US" b="1" dirty="0"/>
              <a:t>Strategic Insights:</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Consumer Preference (Room Types):</a:t>
            </a:r>
            <a:r>
              <a:rPr lang="en-US" dirty="0"/>
              <a:t> The market is heavily dominated by "Entire Home/Apt" (</a:t>
            </a:r>
            <a:r>
              <a:rPr lang="en-US" b="1" dirty="0"/>
              <a:t>22.74K</a:t>
            </a:r>
            <a:r>
              <a:rPr lang="en-US" dirty="0"/>
              <a:t>) and "Private Rooms" (</a:t>
            </a:r>
            <a:r>
              <a:rPr lang="en-US" b="1" dirty="0"/>
              <a:t>21.95K</a:t>
            </a:r>
            <a:r>
              <a:rPr lang="en-US" dirty="0"/>
              <a:t>). "Shared Rooms" make up a negligible fraction (</a:t>
            </a:r>
            <a:r>
              <a:rPr lang="en-US" b="1" dirty="0"/>
              <a:t>1.13K</a:t>
            </a:r>
            <a:r>
              <a:rPr lang="en-US" dirty="0"/>
              <a:t>), indicating a strong consumer demand for privacy.</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The "Whales" of the Market (Top Hosts):</a:t>
            </a:r>
            <a:r>
              <a:rPr lang="en-US" dirty="0"/>
              <a:t> By analyzing the host names, we identified major corporate players like </a:t>
            </a:r>
            <a:r>
              <a:rPr lang="en-US" b="1" dirty="0"/>
              <a:t>Sonder (NYC)</a:t>
            </a:r>
            <a:r>
              <a:rPr lang="en-US" dirty="0"/>
              <a:t> alongside top individual hosts. This tells new investors who their biggest competitors are and shows the level of corporate consolidation in the NYC market.</a:t>
            </a:r>
          </a:p>
        </p:txBody>
      </p:sp>
      <p:pic>
        <p:nvPicPr>
          <p:cNvPr id="4" name="Picture 3">
            <a:extLst>
              <a:ext uri="{FF2B5EF4-FFF2-40B4-BE49-F238E27FC236}">
                <a16:creationId xmlns:a16="http://schemas.microsoft.com/office/drawing/2014/main" id="{9FD7D667-4392-37AC-F133-DF49BBC9A482}"/>
              </a:ext>
            </a:extLst>
          </p:cNvPr>
          <p:cNvPicPr>
            <a:picLocks noChangeAspect="1"/>
          </p:cNvPicPr>
          <p:nvPr/>
        </p:nvPicPr>
        <p:blipFill>
          <a:blip r:embed="rId2"/>
          <a:srcRect l="43178"/>
          <a:stretch>
            <a:fillRect/>
          </a:stretch>
        </p:blipFill>
        <p:spPr>
          <a:xfrm>
            <a:off x="8783273" y="0"/>
            <a:ext cx="3408727" cy="3691156"/>
          </a:xfrm>
          <a:prstGeom prst="rect">
            <a:avLst/>
          </a:prstGeom>
        </p:spPr>
      </p:pic>
    </p:spTree>
    <p:extLst>
      <p:ext uri="{BB962C8B-B14F-4D97-AF65-F5344CB8AC3E}">
        <p14:creationId xmlns:p14="http://schemas.microsoft.com/office/powerpoint/2010/main" val="3763294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304F2-1EC4-CD48-9EAF-48A4455D6F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6B109C-20AD-604F-39B8-2F6CB3F630AF}"/>
              </a:ext>
            </a:extLst>
          </p:cNvPr>
          <p:cNvSpPr txBox="1"/>
          <p:nvPr/>
        </p:nvSpPr>
        <p:spPr>
          <a:xfrm>
            <a:off x="0" y="0"/>
            <a:ext cx="12192000" cy="5355312"/>
          </a:xfrm>
          <a:prstGeom prst="rect">
            <a:avLst/>
          </a:prstGeom>
          <a:noFill/>
        </p:spPr>
        <p:txBody>
          <a:bodyPr wrap="square">
            <a:spAutoFit/>
          </a:bodyPr>
          <a:lstStyle/>
          <a:p>
            <a:pPr>
              <a:buNone/>
            </a:pPr>
            <a:r>
              <a:rPr lang="ar-EG" b="1" dirty="0"/>
              <a:t> </a:t>
            </a:r>
            <a:r>
              <a:rPr lang="en-US" b="1" dirty="0"/>
              <a:t>Final Conclusion &amp; Strategic Recommendations :</a:t>
            </a:r>
          </a:p>
          <a:p>
            <a:pPr>
              <a:buNone/>
            </a:pPr>
            <a:endParaRPr lang="en-US" b="1" dirty="0"/>
          </a:p>
          <a:p>
            <a:pPr>
              <a:buNone/>
            </a:pPr>
            <a:r>
              <a:rPr lang="en-US" b="1" dirty="0"/>
              <a:t>Project Summary:</a:t>
            </a:r>
            <a:r>
              <a:rPr lang="en-US" dirty="0"/>
              <a:t> </a:t>
            </a:r>
          </a:p>
          <a:p>
            <a:pPr lvl="1"/>
            <a:endParaRPr lang="en-US" dirty="0"/>
          </a:p>
          <a:p>
            <a:pPr lvl="1"/>
            <a:r>
              <a:rPr lang="en-US" dirty="0"/>
              <a:t>This project successfully transformed a massive, static dataset of 45,000+ NYC real estate listings into a dynamic, multi-layered decision-support system. By integrating </a:t>
            </a:r>
            <a:r>
              <a:rPr lang="en-US" b="1" dirty="0"/>
              <a:t>Python's</a:t>
            </a:r>
            <a:r>
              <a:rPr lang="en-US" dirty="0"/>
              <a:t> computational power, </a:t>
            </a:r>
            <a:r>
              <a:rPr lang="en-US" b="1" dirty="0" err="1"/>
              <a:t>Streamlit’s</a:t>
            </a:r>
            <a:r>
              <a:rPr lang="en-US" dirty="0"/>
              <a:t> real-time accessibility, and </a:t>
            </a:r>
            <a:r>
              <a:rPr lang="en-US" b="1" dirty="0"/>
              <a:t>Power BI’s</a:t>
            </a:r>
            <a:r>
              <a:rPr lang="en-US" dirty="0"/>
              <a:t> high-level visual storytelling, we have bridged the gap between raw data and actionable business intelligence.</a:t>
            </a:r>
          </a:p>
          <a:p>
            <a:pPr lvl="1"/>
            <a:endParaRPr lang="en-US" dirty="0"/>
          </a:p>
          <a:p>
            <a:pPr>
              <a:buNone/>
            </a:pPr>
            <a:r>
              <a:rPr lang="en-US" b="1" dirty="0"/>
              <a:t>Key Findings:</a:t>
            </a:r>
          </a:p>
          <a:p>
            <a:pPr>
              <a:buNone/>
            </a:pPr>
            <a:endParaRPr lang="en-US" dirty="0"/>
          </a:p>
          <a:p>
            <a:pPr lvl="1">
              <a:buFont typeface="Arial" panose="020B0604020202020204" pitchFamily="34" charset="0"/>
              <a:buChar char="•"/>
            </a:pPr>
            <a:r>
              <a:rPr lang="en-US" b="1" dirty="0"/>
              <a:t>The Policy Friction:</a:t>
            </a:r>
            <a:r>
              <a:rPr lang="en-US" dirty="0"/>
              <a:t> Our analysis identified a major revenue leak in the NYC market: the high average of "Minimum Nights" (6.58 days). This acts as a significant barrier to entry, excluding a large segment of short-term travelers.</a:t>
            </a:r>
          </a:p>
          <a:p>
            <a:pPr lvl="1">
              <a:buFont typeface="Arial" panose="020B0604020202020204" pitchFamily="34" charset="0"/>
              <a:buChar char="•"/>
            </a:pPr>
            <a:endParaRPr lang="en-US" dirty="0"/>
          </a:p>
          <a:p>
            <a:pPr lvl="1">
              <a:buFont typeface="Arial" panose="020B0604020202020204" pitchFamily="34" charset="0"/>
              <a:buChar char="•"/>
            </a:pPr>
            <a:r>
              <a:rPr lang="en-US" b="1" dirty="0"/>
              <a:t>Pricing Discrepancies:</a:t>
            </a:r>
            <a:r>
              <a:rPr lang="en-US" dirty="0"/>
              <a:t> While Manhattan remains the premium benchmark for price, boroughs like Staten Island and the Bronx show higher relative engagement (review density), suggesting untapped potential for value-tier investments.</a:t>
            </a:r>
          </a:p>
          <a:p>
            <a:pPr lvl="1">
              <a:buFont typeface="Arial" panose="020B0604020202020204" pitchFamily="34" charset="0"/>
              <a:buChar char="•"/>
            </a:pPr>
            <a:endParaRPr lang="en-US" dirty="0"/>
          </a:p>
          <a:p>
            <a:pPr lvl="1">
              <a:buFont typeface="Arial" panose="020B0604020202020204" pitchFamily="34" charset="0"/>
              <a:buChar char="•"/>
            </a:pPr>
            <a:r>
              <a:rPr lang="en-US" b="1" dirty="0"/>
              <a:t>The AI Impact:</a:t>
            </a:r>
            <a:r>
              <a:rPr lang="en-US" dirty="0"/>
              <a:t> Through our engineered "Final Recommendation" logic, we found that nearly </a:t>
            </a:r>
            <a:r>
              <a:rPr lang="en-US" b="1" dirty="0"/>
              <a:t>47%</a:t>
            </a:r>
            <a:r>
              <a:rPr lang="en-US" dirty="0"/>
              <a:t> of the market requires immediate adjustments (either in pricing or booking policy) to remain competitive.</a:t>
            </a:r>
          </a:p>
        </p:txBody>
      </p:sp>
    </p:spTree>
    <p:extLst>
      <p:ext uri="{BB962C8B-B14F-4D97-AF65-F5344CB8AC3E}">
        <p14:creationId xmlns:p14="http://schemas.microsoft.com/office/powerpoint/2010/main" val="2440019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ADC3-4521-6BEE-6DE0-54D457E1BF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5D7410-7563-8CE9-D123-0952F8BF6B3A}"/>
              </a:ext>
            </a:extLst>
          </p:cNvPr>
          <p:cNvSpPr txBox="1"/>
          <p:nvPr/>
        </p:nvSpPr>
        <p:spPr>
          <a:xfrm>
            <a:off x="0" y="0"/>
            <a:ext cx="12192000" cy="2862322"/>
          </a:xfrm>
          <a:prstGeom prst="rect">
            <a:avLst/>
          </a:prstGeom>
          <a:noFill/>
        </p:spPr>
        <p:txBody>
          <a:bodyPr wrap="square">
            <a:spAutoFit/>
          </a:bodyPr>
          <a:lstStyle/>
          <a:p>
            <a:pPr>
              <a:buNone/>
            </a:pPr>
            <a:r>
              <a:rPr lang="en-US" b="1" dirty="0"/>
              <a:t>Final Strategic Advice:</a:t>
            </a:r>
            <a:r>
              <a:rPr lang="en-US" dirty="0"/>
              <a:t> </a:t>
            </a:r>
          </a:p>
          <a:p>
            <a:pPr lvl="1"/>
            <a:r>
              <a:rPr lang="en-US" dirty="0"/>
              <a:t>For real estate hosts to maximize ROI in a saturated market, they must move away from </a:t>
            </a:r>
            <a:r>
              <a:rPr lang="en-US" b="1" dirty="0"/>
              <a:t>static, emotional pricing</a:t>
            </a:r>
            <a:r>
              <a:rPr lang="en-US" dirty="0"/>
              <a:t> toward </a:t>
            </a:r>
            <a:r>
              <a:rPr lang="en-US" b="1" dirty="0"/>
              <a:t>dynamic, data-backed strategies</a:t>
            </a:r>
            <a:r>
              <a:rPr lang="en-US" dirty="0"/>
              <a:t>. The tools developed in this project—specifically the </a:t>
            </a:r>
            <a:r>
              <a:rPr lang="en-US" b="1" dirty="0"/>
              <a:t>AI Listing Simulator</a:t>
            </a:r>
            <a:r>
              <a:rPr lang="en-US" dirty="0"/>
              <a:t>—provide the necessary framework for hosts to audit their performance against hyperlocal benchmarks in real-time.</a:t>
            </a:r>
          </a:p>
          <a:p>
            <a:pPr lvl="1"/>
            <a:endParaRPr lang="en-US" dirty="0"/>
          </a:p>
          <a:p>
            <a:pPr lvl="1"/>
            <a:endParaRPr lang="en-US" dirty="0"/>
          </a:p>
          <a:p>
            <a:pPr>
              <a:buNone/>
            </a:pPr>
            <a:r>
              <a:rPr lang="en-US" b="1" dirty="0"/>
              <a:t>Closing Statement:</a:t>
            </a:r>
            <a:r>
              <a:rPr lang="en-US" dirty="0"/>
              <a:t> </a:t>
            </a:r>
          </a:p>
          <a:p>
            <a:pPr lvl="1"/>
            <a:r>
              <a:rPr lang="en-US" dirty="0"/>
              <a:t>In conclusion, data-driven optimization is no longer a luxury but a necessity in the NYC short-term rental market. This project demonstrates that with the right analytical pipeline, any property owner can transition from "guesswork" to a "data-first" approach, ensuring long-term profitability and market leadership.</a:t>
            </a:r>
          </a:p>
        </p:txBody>
      </p:sp>
    </p:spTree>
    <p:extLst>
      <p:ext uri="{BB962C8B-B14F-4D97-AF65-F5344CB8AC3E}">
        <p14:creationId xmlns:p14="http://schemas.microsoft.com/office/powerpoint/2010/main" val="2675974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A9E0-E068-A6F9-88C1-36AF6A86897C}"/>
            </a:ext>
          </a:extLst>
        </p:cNvPr>
        <p:cNvGrpSpPr/>
        <p:nvPr/>
      </p:nvGrpSpPr>
      <p:grpSpPr>
        <a:xfrm>
          <a:off x="0" y="0"/>
          <a:ext cx="0" cy="0"/>
          <a:chOff x="0" y="0"/>
          <a:chExt cx="0" cy="0"/>
        </a:xfrm>
      </p:grpSpPr>
    </p:spTree>
    <p:extLst>
      <p:ext uri="{BB962C8B-B14F-4D97-AF65-F5344CB8AC3E}">
        <p14:creationId xmlns:p14="http://schemas.microsoft.com/office/powerpoint/2010/main" val="843087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2179</Words>
  <Application>Microsoft Office PowerPoint</Application>
  <PresentationFormat>Widescreen</PresentationFormat>
  <Paragraphs>157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Courier New</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Ahmed</dc:creator>
  <cp:lastModifiedBy>Omar Ahmed</cp:lastModifiedBy>
  <cp:revision>3</cp:revision>
  <dcterms:created xsi:type="dcterms:W3CDTF">2026-05-09T11:51:13Z</dcterms:created>
  <dcterms:modified xsi:type="dcterms:W3CDTF">2026-05-09T13:19:14Z</dcterms:modified>
</cp:coreProperties>
</file>