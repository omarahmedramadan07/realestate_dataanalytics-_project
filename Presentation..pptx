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78F7-B0E7-9740-81D3-65EBDE058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24E06-BFB3-0AA4-6054-95CF5B161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8752A-8D51-5D77-035E-9BA0F1436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B475-2C07-C059-3906-F6AF7955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4D406-D939-5A03-74F1-0D47E89E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5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5006-C0E8-C01B-DE25-26DFA450A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0B4B1-94EC-C5EC-0576-2192A903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9D3D-7E26-9185-CA2B-BD8E0C5B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7EA96-0EBE-8E50-B456-2D70331A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91DD3-D87B-DD31-545B-0A5882E80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8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5955-E791-D178-C062-EF535080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0D59F-B0B5-480F-133F-7A23FB660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38F4B-F32B-396F-B293-4D7730AE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219FF-CB9B-5565-2BC0-B30151C0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19CB8-5AF8-2671-E6D5-896C4DA0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2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D340-DB2B-A12C-F598-F0254E79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45AC-09D3-013D-D1CD-41BC9A7F8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51A10-FFC4-33CD-032D-57B356797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03279-348A-DF2D-3645-E7177E92D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6CBF4-41BD-CD8E-892A-9640BAB1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F2612-B463-571E-0D54-5B5CE970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5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E91C-27DB-998C-8FD8-E6434B76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BF8CB-1020-1011-8A6D-16C5D229B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9A90D-EB9A-CEC2-3A2F-0172F6067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1494E-F2D9-ABC0-DA1F-1A41A4702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A7E09-C9CD-A8F4-D21F-950CFC905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4684E-21B4-5967-776A-AA32BDCF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F8B83-7646-51EE-1ED2-85D98514D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C71C6-5E2E-F4CF-B2C5-F47EBB78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57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002B-3953-7E48-72D4-40939924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A06E3-D8D2-5032-05D1-3E4B7C1C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35188-CE89-7C2B-3F65-DAED2160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84BDF-AAE4-777D-4F16-533289A9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2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1382A-620F-59DD-ACB7-1A3C4A21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11563-4F96-D17B-3704-A835B2AA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DAEB2-58AB-2478-5516-8522AD46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3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D658-CA13-0DFD-1D0A-986741E0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CE84-E4EB-D5C4-6400-D523D2276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544E6-A788-8389-238E-6DADF767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68572-7C5D-2C1F-04C4-8FD3FE39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A2086-A9DC-7791-48F6-365C470B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945F3-ABCB-17A6-1734-E4B632BD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5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F0DA-B764-C928-465D-E16AB825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8135E-9C24-D5BB-EC6E-AFE96B57A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4FFE5-DE2F-27BB-B917-62292CB01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140ED-763D-1F0D-C856-4AA8E8F2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F9E24-E818-3528-6117-36306D2E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0B106-3A16-D21B-92C8-AA7900FA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E0D6-A6BA-0F06-57B8-8B353253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B5A04-BB60-3C7C-03E1-E92157274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9DFC1-F492-53FE-FBA8-03D5EFE96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749AD-7887-615D-D220-8A4FD0BC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7D0BC-8807-19C4-CB87-05713ED82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A6024-94D6-141E-68E3-CD9784B9E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2ECA4-909B-B18F-8C0A-A049B203C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10762-B002-BC45-EA44-45A0121B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2BE28-9E81-E62B-9763-7C8FEE3F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FF7B1-2162-BB9F-4383-7FD770FF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7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A348F-4175-547D-A13F-E09D27CC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A4D48-8089-719E-08CC-090795455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B8E7B-7E2C-C910-8FD7-FD6B80203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20606-C6C2-4FE1-8C0E-2F69367C6EC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2790D-0284-F6E4-6445-A57D3A295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53497-EBAB-89BB-D30E-0058D239E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047EB-6C74-4B55-9E56-6C3FEA37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3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76968-45FD-1C65-996C-BCC7BF0FAAA7}"/>
              </a:ext>
            </a:extLst>
          </p:cNvPr>
          <p:cNvSpPr txBox="1"/>
          <p:nvPr/>
        </p:nvSpPr>
        <p:spPr>
          <a:xfrm>
            <a:off x="260059" y="75502"/>
            <a:ext cx="1093924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Slides</a:t>
            </a:r>
            <a:endParaRPr lang="ar-EG" b="1" dirty="0"/>
          </a:p>
          <a:p>
            <a:pPr lvl="0"/>
            <a:endParaRPr lang="ar-EG" b="1" dirty="0"/>
          </a:p>
          <a:p>
            <a:pPr lvl="0"/>
            <a:endParaRPr lang="ar-EG" b="1" dirty="0"/>
          </a:p>
          <a:p>
            <a:pPr lvl="0"/>
            <a:r>
              <a:rPr lang="en-US" b="1" dirty="0"/>
              <a:t>Project Title:</a:t>
            </a:r>
            <a:r>
              <a:rPr lang="en-US" dirty="0"/>
              <a:t> NYC Airbnb Market Optimization</a:t>
            </a:r>
            <a:endParaRPr lang="ar-EG" dirty="0"/>
          </a:p>
          <a:p>
            <a:pPr lvl="0"/>
            <a:endParaRPr lang="en-US" dirty="0"/>
          </a:p>
          <a:p>
            <a:pPr lvl="0"/>
            <a:r>
              <a:rPr lang="en-US" b="1" dirty="0"/>
              <a:t>Course:</a:t>
            </a:r>
            <a:r>
              <a:rPr lang="ar-EG" b="1" dirty="0"/>
              <a:t> </a:t>
            </a:r>
            <a:r>
              <a:rPr lang="en-US" b="1" dirty="0"/>
              <a:t> </a:t>
            </a:r>
            <a:r>
              <a:rPr lang="en-US" dirty="0"/>
              <a:t>CET242– Data analytics and visualization </a:t>
            </a:r>
            <a:endParaRPr lang="ar-EG" dirty="0"/>
          </a:p>
          <a:p>
            <a:pPr lvl="0"/>
            <a:endParaRPr lang="ar-EG" b="1" dirty="0"/>
          </a:p>
          <a:p>
            <a:pPr lvl="0"/>
            <a:r>
              <a:rPr lang="en-US" b="1" dirty="0"/>
              <a:t>Team Members: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1. Omar Ahmed Ramadan (Student ID: 240102684). </a:t>
            </a:r>
          </a:p>
          <a:p>
            <a:pPr lvl="0"/>
            <a:r>
              <a:rPr lang="en-US" dirty="0"/>
              <a:t>2. Ahmed Mohamed</a:t>
            </a:r>
            <a:r>
              <a:rPr lang="ar-SA" dirty="0"/>
              <a:t>  </a:t>
            </a:r>
            <a:r>
              <a:rPr lang="en-US" dirty="0"/>
              <a:t>(Student ID: 240102</a:t>
            </a:r>
            <a:r>
              <a:rPr lang="ar-SA" dirty="0"/>
              <a:t>791</a:t>
            </a:r>
            <a:r>
              <a:rPr lang="en-US" dirty="0"/>
              <a:t>).</a:t>
            </a:r>
            <a:endParaRPr lang="ar-EG" dirty="0"/>
          </a:p>
          <a:p>
            <a:pPr lvl="0"/>
            <a:endParaRPr lang="ar-EG" b="1" dirty="0"/>
          </a:p>
          <a:p>
            <a:pPr lvl="0"/>
            <a:r>
              <a:rPr lang="en-US" b="1" dirty="0"/>
              <a:t>University:</a:t>
            </a:r>
            <a:r>
              <a:rPr lang="en-US" dirty="0"/>
              <a:t> El Sewedy University of Technology (SUT).</a:t>
            </a:r>
          </a:p>
          <a:p>
            <a:pPr lvl="0"/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96577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F806DE-D94A-8D6C-4E80-86593B7A39F4}"/>
              </a:ext>
            </a:extLst>
          </p:cNvPr>
          <p:cNvSpPr txBox="1"/>
          <p:nvPr/>
        </p:nvSpPr>
        <p:spPr>
          <a:xfrm>
            <a:off x="125834" y="109058"/>
            <a:ext cx="120661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2: Problem Definition &amp; KPIs</a:t>
            </a:r>
            <a:endParaRPr lang="ar-EG" b="1" dirty="0"/>
          </a:p>
          <a:p>
            <a:pPr>
              <a:buNone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Problem Statement:</a:t>
            </a:r>
            <a:endParaRPr lang="ar-EG" b="1" dirty="0"/>
          </a:p>
          <a:p>
            <a:pPr lvl="1"/>
            <a:r>
              <a:rPr lang="en-US" dirty="0"/>
              <a:t>Despite having a high number of listings in NYC, many hosts face inconsistent revenue and low occupancy rates. There is a significant gap in listing performance across different boroughs, where some properties remain vacant for long periods even with competitive pricing.</a:t>
            </a:r>
            <a:endParaRPr lang="ar-EG" dirty="0"/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2. Goal:</a:t>
            </a:r>
            <a:r>
              <a:rPr lang="en-US" dirty="0"/>
              <a:t> </a:t>
            </a:r>
            <a:endParaRPr lang="ar-EG" dirty="0"/>
          </a:p>
          <a:p>
            <a:pPr lvl="1"/>
            <a:r>
              <a:rPr lang="en-US" dirty="0"/>
              <a:t>To analyze the key factors affecting listing performance and provide data-driven recommendations to optimize host revenue and improve the "Occupancy-to-Price" balance.</a:t>
            </a:r>
            <a:endParaRPr lang="ar-EG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 Key Performance Indicators (KPIs):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Average Price per Borough:</a:t>
            </a:r>
            <a:r>
              <a:rPr lang="en-US" dirty="0"/>
              <a:t> To benchmark property rates against regional competitors.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Occupancy Rate Indicator:</a:t>
            </a:r>
            <a:r>
              <a:rPr lang="en-US" dirty="0"/>
              <a:t> Derived from </a:t>
            </a:r>
            <a:r>
              <a:rPr lang="en-US" dirty="0">
                <a:latin typeface="Courier New" panose="02070309020205020404" pitchFamily="49" charset="0"/>
              </a:rPr>
              <a:t>availability_365</a:t>
            </a:r>
            <a:r>
              <a:rPr lang="en-US" dirty="0"/>
              <a:t> to measure demand.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Review Density:</a:t>
            </a:r>
            <a:r>
              <a:rPr lang="en-US" dirty="0"/>
              <a:t> (Reviews per Month) to evaluate customer engagement and property popularity.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Price Elasticity:</a:t>
            </a:r>
            <a:r>
              <a:rPr lang="en-US" dirty="0"/>
              <a:t> How changes in </a:t>
            </a:r>
            <a:r>
              <a:rPr lang="en-US" dirty="0" err="1">
                <a:latin typeface="Courier New" panose="02070309020205020404" pitchFamily="49" charset="0"/>
              </a:rPr>
              <a:t>room_type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</a:rPr>
              <a:t>minimum_nights</a:t>
            </a:r>
            <a:r>
              <a:rPr lang="en-US" dirty="0"/>
              <a:t> affect the listing's attractiveness.</a:t>
            </a:r>
          </a:p>
        </p:txBody>
      </p:sp>
    </p:spTree>
    <p:extLst>
      <p:ext uri="{BB962C8B-B14F-4D97-AF65-F5344CB8AC3E}">
        <p14:creationId xmlns:p14="http://schemas.microsoft.com/office/powerpoint/2010/main" val="1520439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10BF-DCD1-66FE-FF9A-9175E6B6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156BC-0AB9-CF41-CBB6-C873A78E5B9A}"/>
              </a:ext>
            </a:extLst>
          </p:cNvPr>
          <p:cNvSpPr txBox="1"/>
          <p:nvPr/>
        </p:nvSpPr>
        <p:spPr>
          <a:xfrm>
            <a:off x="0" y="1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3: Research Hypotheses &amp; Data Insights</a:t>
            </a:r>
            <a:endParaRPr lang="ar-EG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Hypothesis 1: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Assumption:</a:t>
            </a:r>
            <a:r>
              <a:rPr lang="en-US" dirty="0"/>
              <a:t> Listings with a </a:t>
            </a:r>
            <a:r>
              <a:rPr lang="en-US" dirty="0" err="1">
                <a:latin typeface="Courier New" panose="02070309020205020404" pitchFamily="49" charset="0"/>
              </a:rPr>
              <a:t>minimum_nights</a:t>
            </a:r>
            <a:r>
              <a:rPr lang="en-US" dirty="0"/>
              <a:t> requirement of more than 3 nights receive 30% fewer reviews.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High entry barriers (long stays) discourage casual </a:t>
            </a:r>
            <a:r>
              <a:rPr lang="en-US" b="1" dirty="0"/>
              <a:t> The "Strict Booking" </a:t>
            </a:r>
            <a:r>
              <a:rPr lang="en-US" b="1" dirty="0" err="1"/>
              <a:t>Penalty</a:t>
            </a:r>
            <a:r>
              <a:rPr lang="en-US" dirty="0" err="1"/>
              <a:t>travelers</a:t>
            </a:r>
            <a:r>
              <a:rPr lang="en-US" dirty="0"/>
              <a:t>, leading to lower occupancy and fewer customer engagements.</a:t>
            </a:r>
            <a:endParaRPr lang="ar-EG" dirty="0"/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2. Hypothesis 2: Professional vs. Individual Hosting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Assumption:</a:t>
            </a:r>
            <a:r>
              <a:rPr lang="en-US" dirty="0"/>
              <a:t> Professional hosts (</a:t>
            </a:r>
            <a:r>
              <a:rPr lang="en-US" dirty="0" err="1">
                <a:latin typeface="Courier New" panose="02070309020205020404" pitchFamily="49" charset="0"/>
              </a:rPr>
              <a:t>calculated_host_listings_count</a:t>
            </a:r>
            <a:r>
              <a:rPr lang="en-US" dirty="0"/>
              <a:t> &gt; 5) maintain higher price stability but have lower "Review-to-Price" ratios.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Corporate-managed properties may prioritize profit margins over personalized guest experiences, affecting their popularity.</a:t>
            </a:r>
            <a:endParaRPr lang="ar-EG" dirty="0"/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3. Hypothesis 3: The Location-Price Paradox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Assumption:</a:t>
            </a:r>
            <a:r>
              <a:rPr lang="en-US" dirty="0"/>
              <a:t> Properties in high-demand areas (Manhattan) are overpriced relative to their "Availability," leading to "Dead Zones" where listings stay vacant.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Price saturation in certain neighborhoods pushes travelers toward alternative boroughs like Brooklyn or Queens.</a:t>
            </a:r>
          </a:p>
        </p:txBody>
      </p:sp>
    </p:spTree>
    <p:extLst>
      <p:ext uri="{BB962C8B-B14F-4D97-AF65-F5344CB8AC3E}">
        <p14:creationId xmlns:p14="http://schemas.microsoft.com/office/powerpoint/2010/main" val="198331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2B6BF-7E94-6FF1-7F9E-40EC9C54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1F37B78-40A3-582F-F43E-2B3FC4CEDAA0}"/>
              </a:ext>
            </a:extLst>
          </p:cNvPr>
          <p:cNvSpPr txBox="1"/>
          <p:nvPr/>
        </p:nvSpPr>
        <p:spPr>
          <a:xfrm>
            <a:off x="0" y="0"/>
            <a:ext cx="802826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4: Data Preparation &amp; Cleaning</a:t>
            </a:r>
          </a:p>
          <a:p>
            <a:pPr>
              <a:buNone/>
            </a:pPr>
            <a:r>
              <a:rPr lang="en-US" b="1" dirty="0"/>
              <a:t>"Transforming Raw Data into Actionable Insights“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1. Text Normalization &amp; Consistency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Converted </a:t>
            </a:r>
            <a:r>
              <a:rPr lang="en-US" dirty="0">
                <a:latin typeface="Courier New" panose="02070309020205020404" pitchFamily="49" charset="0"/>
              </a:rPr>
              <a:t>name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host_name</a:t>
            </a:r>
            <a:r>
              <a:rPr lang="en-US" dirty="0"/>
              <a:t>, and </a:t>
            </a:r>
            <a:r>
              <a:rPr lang="en-US" dirty="0" err="1">
                <a:latin typeface="Courier New" panose="02070309020205020404" pitchFamily="49" charset="0"/>
              </a:rPr>
              <a:t>neighbourhood</a:t>
            </a:r>
            <a:r>
              <a:rPr lang="en-US" dirty="0"/>
              <a:t> to lowercase.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To ensure consistent grouping and prevent duplicate categories caused by case sensitivity.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2. Handling Missing Values &amp; Duplicates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Removed duplicate records to ensure data uniqueness.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Filled missing values in </a:t>
            </a:r>
            <a:r>
              <a:rPr lang="en-US" dirty="0" err="1">
                <a:latin typeface="Courier New" panose="02070309020205020404" pitchFamily="49" charset="0"/>
              </a:rPr>
              <a:t>reviews_per_month</a:t>
            </a:r>
            <a:r>
              <a:rPr lang="en-US" dirty="0"/>
              <a:t> with </a:t>
            </a:r>
            <a:r>
              <a:rPr lang="en-US" b="1" dirty="0"/>
              <a:t>0</a:t>
            </a:r>
            <a:r>
              <a:rPr lang="en-US" dirty="0"/>
              <a:t> instead of dropping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To include new hosts in the analysis without biasing the results.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Logical Filtering &amp; Constraints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Removed invalid listings with a price of </a:t>
            </a:r>
            <a:r>
              <a:rPr lang="en-US" b="1" dirty="0"/>
              <a:t>$0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Filtered out unrealistic </a:t>
            </a:r>
            <a:r>
              <a:rPr lang="en-US" dirty="0" err="1">
                <a:latin typeface="Courier New" panose="02070309020205020404" pitchFamily="49" charset="0"/>
              </a:rPr>
              <a:t>minimum_nights</a:t>
            </a:r>
            <a:r>
              <a:rPr lang="en-US" dirty="0"/>
              <a:t> (entries exceeding </a:t>
            </a:r>
            <a:r>
              <a:rPr lang="en-US" b="1" dirty="0"/>
              <a:t>365 nights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To focus the analysis on genuine, active listings in the NYC market.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4. Outlier Removal (Statistical Refinement)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Applied the </a:t>
            </a:r>
            <a:r>
              <a:rPr lang="en-US" b="1" dirty="0"/>
              <a:t>IQR (Interquartile Range) Method</a:t>
            </a:r>
            <a:r>
              <a:rPr lang="en-US" dirty="0"/>
              <a:t> to the price column.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Final Dataset:</a:t>
            </a:r>
            <a:r>
              <a:rPr lang="en-US" dirty="0"/>
              <a:t> Reduced noise from 48,895 to </a:t>
            </a:r>
            <a:r>
              <a:rPr lang="en-US" b="1" dirty="0"/>
              <a:t>45,840</a:t>
            </a:r>
            <a:r>
              <a:rPr lang="en-US" dirty="0"/>
              <a:t> high-quality records.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18B793-C564-AC81-C325-FB746708E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705" y="0"/>
            <a:ext cx="4348295" cy="541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7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ADAAF-970C-DF6D-DB1D-A2FAE8C8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2EC45E-0C64-768F-E323-CC81369F1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3" y="1952403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D2578D-67EF-BA46-D6A9-F88C539A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5498"/>
            <a:ext cx="12192000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Slide 5: Exploratory Data Analysis (EDA) &amp;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"Uncovering Patterns to Understand Market Behavior“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 Price Distribution &amp; Market Segmentation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Observation: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Most listings are priced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$50 and $200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Insight: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Properties priced outside this range without unique features face significantly lower booking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2. Correlation Analysis (The Root Causes)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Finding: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strong negative correlation between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minimum_nights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number_of_reviews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Impact: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Each additional night required reduces the listing's visibility and engagement by approximately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20-30%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3. Geographic Performance Gap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Observation: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Manhattan has the highest prices, but Brooklyn leads in "Review Density" (Popularity).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Insight: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Value-seeking travelers are shifting demand toward Brooklyn, creating a high-competition zone for new hosts.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4. Visual Evidence: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(Note: Here you should place your Heatmap or a Bar Chart showing price per borough)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18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F1A4C-6FFF-413C-8587-01A68FBE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D6F7A-49D3-A43D-AE4C-0E10B5960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774" y="2704740"/>
            <a:ext cx="7905226" cy="4153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000D79-A2FA-A6CA-CBB5-83C18A83C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863" y="0"/>
            <a:ext cx="5229138" cy="2704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67EBF9-6D03-CB3F-BD9F-250D8BF18F7B}"/>
              </a:ext>
            </a:extLst>
          </p:cNvPr>
          <p:cNvSpPr txBox="1"/>
          <p:nvPr/>
        </p:nvSpPr>
        <p:spPr>
          <a:xfrm>
            <a:off x="-1" y="0"/>
            <a:ext cx="69628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Heatmap:</a:t>
            </a:r>
            <a:r>
              <a:rPr lang="en-US" sz="2000" dirty="0"/>
              <a:t> Negative correlation (-0.17) proves that strict booking rules reduce listing engagement.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83FC67C-C35E-8721-261B-23505F9D8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96909"/>
            <a:ext cx="4381849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Arial" panose="020B0604020202020204" pitchFamily="34" charset="0"/>
              </a:rPr>
              <a:t>Bar Charts: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Manhattan is the most expensive, but Brooklyn and Queens lead in popularity (Review Density).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407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313D-563D-B652-DD0A-164B3BD9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0AAE0-C976-9DF3-82A8-A16E8A660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12192000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Slide 6: Quantitative Analysis Results</a:t>
            </a:r>
          </a:p>
          <a:p>
            <a:r>
              <a:rPr lang="en-US" b="1" dirty="0"/>
              <a:t>"Decoding Host Performance Categories“</a:t>
            </a:r>
          </a:p>
          <a:p>
            <a:endParaRPr lang="en-US" dirty="0"/>
          </a:p>
          <a:p>
            <a:r>
              <a:rPr lang="en-US" dirty="0"/>
              <a:t>Based on our recommendation logic applied to </a:t>
            </a:r>
            <a:r>
              <a:rPr lang="en-US" b="1" dirty="0"/>
              <a:t>45,840 listings</a:t>
            </a:r>
            <a:r>
              <a:rPr lang="en-US" dirty="0"/>
              <a:t>, here is the market breakdown:</a:t>
            </a:r>
          </a:p>
          <a:p>
            <a:endParaRPr lang="en-US" dirty="0"/>
          </a:p>
          <a:p>
            <a:pPr lvl="1"/>
            <a:r>
              <a:rPr lang="en-US" b="1" dirty="0"/>
              <a:t>1 - Lower Price to Increase Bookings:</a:t>
            </a:r>
            <a:r>
              <a:rPr lang="en-US" dirty="0"/>
              <a:t> </a:t>
            </a:r>
            <a:r>
              <a:rPr lang="en-US" b="1" dirty="0"/>
              <a:t>13,698 listings</a:t>
            </a:r>
            <a:r>
              <a:rPr lang="en-US" dirty="0"/>
              <a:t> are overpriced relative to their borough's average and review score.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2 - Keep Current Strategy:</a:t>
            </a:r>
            <a:r>
              <a:rPr lang="en-US" dirty="0"/>
              <a:t> </a:t>
            </a:r>
            <a:r>
              <a:rPr lang="en-US" b="1" dirty="0"/>
              <a:t>12,369 listings</a:t>
            </a:r>
            <a:r>
              <a:rPr lang="en-US" dirty="0"/>
              <a:t> are performing optimally with a balanced price-to-popularity ratio.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3 - Improve Listing Description:</a:t>
            </a:r>
            <a:r>
              <a:rPr lang="en-US" dirty="0"/>
              <a:t> </a:t>
            </a:r>
            <a:r>
              <a:rPr lang="en-US" b="1" dirty="0"/>
              <a:t>10,604 listings</a:t>
            </a:r>
            <a:r>
              <a:rPr lang="en-US" dirty="0"/>
              <a:t> have competitive prices but suffer from low engagement, suggesting a need for better marketing.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4 - Reduce Minimum Nights:</a:t>
            </a:r>
            <a:r>
              <a:rPr lang="en-US" dirty="0"/>
              <a:t> </a:t>
            </a:r>
            <a:r>
              <a:rPr lang="en-US" b="1" dirty="0"/>
              <a:t>9,169 listings</a:t>
            </a:r>
            <a:r>
              <a:rPr lang="en-US" dirty="0"/>
              <a:t> are losing potential guests due to strict stay requirements (&gt; 3 nights).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BEFEB-C7CE-ACB5-6994-7FAD447AF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494" y="4047526"/>
            <a:ext cx="8148506" cy="281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4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2B25-4675-0D1E-5484-B7F90C9A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6ABCFD-491E-F65D-0199-F2FEA367D34F}"/>
              </a:ext>
            </a:extLst>
          </p:cNvPr>
          <p:cNvSpPr txBox="1"/>
          <p:nvPr/>
        </p:nvSpPr>
        <p:spPr>
          <a:xfrm>
            <a:off x="0" y="0"/>
            <a:ext cx="1219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7: Final Strategic Recommendations</a:t>
            </a:r>
          </a:p>
          <a:p>
            <a:pPr>
              <a:buNone/>
            </a:pPr>
            <a:r>
              <a:rPr lang="en-US" b="1" dirty="0"/>
              <a:t>"Action Plan for Revenue Optimization“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1. Flexible Booking Policy: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Hosts should reduce </a:t>
            </a:r>
            <a:r>
              <a:rPr lang="en-US" dirty="0" err="1">
                <a:latin typeface="Courier New" panose="02070309020205020404" pitchFamily="49" charset="0"/>
              </a:rPr>
              <a:t>minimum_nights</a:t>
            </a:r>
            <a:r>
              <a:rPr lang="en-US" dirty="0"/>
              <a:t> to 1 or 2 nights to increase visibility and booking frequency by up to 30%.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Competitive Pricing in Manhattan: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compete with Brooklyn’s rising popularity, Manhattan hosts should implement a 10-15% price reduction to attract value-seeking travelers.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3. Enhancing Listing Quality: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For the </a:t>
            </a:r>
            <a:r>
              <a:rPr lang="en-US" b="1" dirty="0"/>
              <a:t>10,604 "Average" listings</a:t>
            </a:r>
            <a:r>
              <a:rPr lang="en-US" dirty="0"/>
              <a:t>, focusing on professional photography and detailed descriptions is critical to convert views into bookings.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4. Strategic Investment Zones: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Future investments should prioritize </a:t>
            </a:r>
            <a:r>
              <a:rPr lang="en-US" b="1" dirty="0"/>
              <a:t>Brooklyn</a:t>
            </a:r>
            <a:r>
              <a:rPr lang="en-US" dirty="0"/>
              <a:t> and </a:t>
            </a:r>
            <a:r>
              <a:rPr lang="en-US" b="1" dirty="0"/>
              <a:t>Queens</a:t>
            </a:r>
            <a:r>
              <a:rPr lang="en-US" dirty="0"/>
              <a:t>, as they currently offer the best balance between investment cost and demand.</a:t>
            </a:r>
          </a:p>
          <a:p>
            <a:pPr lvl="1"/>
            <a:endParaRPr lang="ar-EG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9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06F42-27AE-5BB5-C863-81389B4BF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0809F-C476-BC48-1770-05887084042E}"/>
              </a:ext>
            </a:extLst>
          </p:cNvPr>
          <p:cNvSpPr txBox="1"/>
          <p:nvPr/>
        </p:nvSpPr>
        <p:spPr>
          <a:xfrm>
            <a:off x="1398" y="0"/>
            <a:ext cx="71040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Implementation &amp; Automated Advisory:</a:t>
            </a:r>
            <a:endParaRPr lang="ar-EG" b="1" dirty="0"/>
          </a:p>
          <a:p>
            <a:endParaRPr lang="en-US" dirty="0"/>
          </a:p>
          <a:p>
            <a:pPr lvl="1"/>
            <a:r>
              <a:rPr lang="en-US" dirty="0"/>
              <a:t>We successfully processed all </a:t>
            </a:r>
            <a:r>
              <a:rPr lang="en-US" b="1" dirty="0"/>
              <a:t>45,840 listings</a:t>
            </a:r>
            <a:r>
              <a:rPr lang="en-US" dirty="0"/>
              <a:t> through a custom-built diagnostic script.</a:t>
            </a:r>
            <a:endParaRPr lang="ar-EG" dirty="0"/>
          </a:p>
          <a:p>
            <a:pPr lvl="1"/>
            <a:endParaRPr lang="en-US" dirty="0"/>
          </a:p>
          <a:p>
            <a:pPr lvl="1"/>
            <a:r>
              <a:rPr lang="en-US" dirty="0"/>
              <a:t>A new feature column, </a:t>
            </a:r>
            <a:r>
              <a:rPr lang="en-US" b="1" dirty="0"/>
              <a:t>"Final Recommendation,"</a:t>
            </a:r>
            <a:r>
              <a:rPr lang="en-US" dirty="0"/>
              <a:t> was integrated into the master dataset.</a:t>
            </a:r>
            <a:endParaRPr lang="ar-EG" dirty="0"/>
          </a:p>
          <a:p>
            <a:pPr lvl="1"/>
            <a:endParaRPr lang="en-US" dirty="0"/>
          </a:p>
          <a:p>
            <a:pPr lvl="1"/>
            <a:r>
              <a:rPr lang="en-US" dirty="0"/>
              <a:t>Each host now has a </a:t>
            </a:r>
            <a:r>
              <a:rPr lang="en-US" b="1" dirty="0"/>
              <a:t>personalized strategy</a:t>
            </a:r>
            <a:r>
              <a:rPr lang="en-US" dirty="0"/>
              <a:t> (e.g., "Lower price" or "Reduce nights") mapped directly to their specific listing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EE9DD-E998-CEED-5C56-FF0CEFFEE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257" y="0"/>
            <a:ext cx="4767743" cy="67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6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C25F-9678-241C-8B78-FA006886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264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1037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Google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Ahmed</dc:creator>
  <cp:lastModifiedBy>Omar Ahmed</cp:lastModifiedBy>
  <cp:revision>3</cp:revision>
  <dcterms:created xsi:type="dcterms:W3CDTF">2026-04-18T14:48:16Z</dcterms:created>
  <dcterms:modified xsi:type="dcterms:W3CDTF">2026-04-18T16:32:05Z</dcterms:modified>
</cp:coreProperties>
</file>